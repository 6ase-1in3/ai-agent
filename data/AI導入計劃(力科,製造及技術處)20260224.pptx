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71" r:id="rId2"/>
    <p:sldId id="274" r:id="rId3"/>
    <p:sldId id="275" r:id="rId4"/>
    <p:sldId id="276" r:id="rId5"/>
    <p:sldId id="277" r:id="rId6"/>
    <p:sldId id="278" r:id="rId7"/>
    <p:sldId id="279" r:id="rId8"/>
  </p:sldIdLst>
  <p:sldSz cx="12192000" cy="6858000"/>
  <p:notesSz cx="6797675" cy="9926638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33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FFB615"/>
    <a:srgbClr val="FFFFFF"/>
    <a:srgbClr val="E8ECE9"/>
    <a:srgbClr val="152B5C"/>
    <a:srgbClr val="FFD371"/>
    <a:srgbClr val="193B47"/>
    <a:srgbClr val="060D1C"/>
    <a:srgbClr val="59B5A9"/>
    <a:srgbClr val="97D1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5BF75D-4BA0-4DB9-AEA5-8BB50D2B038A}" v="44" dt="2026-02-25T15:33:52.8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B1032C-EA38-4F05-BA0D-38AFFFC7BED3}" styleName="淺色樣式 3 - 輔色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717" autoAdjust="0"/>
    <p:restoredTop sz="75801" autoAdjust="0"/>
  </p:normalViewPr>
  <p:slideViewPr>
    <p:cSldViewPr snapToGrid="0">
      <p:cViewPr varScale="1">
        <p:scale>
          <a:sx n="94" d="100"/>
          <a:sy n="94" d="100"/>
        </p:scale>
        <p:origin x="211" y="82"/>
      </p:cViewPr>
      <p:guideLst>
        <p:guide orient="horz" pos="4133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193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ason Cheng" userId="290a7078160bf5b2" providerId="LiveId" clId="{E2D9881B-88CA-4BDB-A161-7801B24C65D0}"/>
    <pc:docChg chg="undo custSel addSld modSld sldOrd modMainMaster">
      <pc:chgData name="Eason Cheng" userId="290a7078160bf5b2" providerId="LiveId" clId="{E2D9881B-88CA-4BDB-A161-7801B24C65D0}" dt="2026-02-26T02:40:03.373" v="3967" actId="20577"/>
      <pc:docMkLst>
        <pc:docMk/>
      </pc:docMkLst>
      <pc:sldChg chg="modSp mod">
        <pc:chgData name="Eason Cheng" userId="290a7078160bf5b2" providerId="LiveId" clId="{E2D9881B-88CA-4BDB-A161-7801B24C65D0}" dt="2026-02-26T02:12:43.649" v="3420" actId="20577"/>
        <pc:sldMkLst>
          <pc:docMk/>
          <pc:sldMk cId="2276970588" sldId="271"/>
        </pc:sldMkLst>
        <pc:graphicFrameChg chg="mod modGraphic">
          <ac:chgData name="Eason Cheng" userId="290a7078160bf5b2" providerId="LiveId" clId="{E2D9881B-88CA-4BDB-A161-7801B24C65D0}" dt="2026-02-26T02:12:43.649" v="3420" actId="20577"/>
          <ac:graphicFrameMkLst>
            <pc:docMk/>
            <pc:sldMk cId="2276970588" sldId="271"/>
            <ac:graphicFrameMk id="4" creationId="{00000000-0000-0000-0000-000000000000}"/>
          </ac:graphicFrameMkLst>
        </pc:graphicFrameChg>
      </pc:sldChg>
      <pc:sldChg chg="modSp mod">
        <pc:chgData name="Eason Cheng" userId="290a7078160bf5b2" providerId="LiveId" clId="{E2D9881B-88CA-4BDB-A161-7801B24C65D0}" dt="2026-02-26T02:39:01.663" v="3964" actId="2062"/>
        <pc:sldMkLst>
          <pc:docMk/>
          <pc:sldMk cId="1862916394" sldId="274"/>
        </pc:sldMkLst>
        <pc:graphicFrameChg chg="mod modGraphic">
          <ac:chgData name="Eason Cheng" userId="290a7078160bf5b2" providerId="LiveId" clId="{E2D9881B-88CA-4BDB-A161-7801B24C65D0}" dt="2026-02-26T02:39:01.663" v="3964" actId="2062"/>
          <ac:graphicFrameMkLst>
            <pc:docMk/>
            <pc:sldMk cId="1862916394" sldId="274"/>
            <ac:graphicFrameMk id="4" creationId="{00000000-0000-0000-0000-000000000000}"/>
          </ac:graphicFrameMkLst>
        </pc:graphicFrameChg>
      </pc:sldChg>
      <pc:sldChg chg="modSp mod">
        <pc:chgData name="Eason Cheng" userId="290a7078160bf5b2" providerId="LiveId" clId="{E2D9881B-88CA-4BDB-A161-7801B24C65D0}" dt="2026-02-26T02:38:57.473" v="3963" actId="2062"/>
        <pc:sldMkLst>
          <pc:docMk/>
          <pc:sldMk cId="1144585488" sldId="275"/>
        </pc:sldMkLst>
        <pc:graphicFrameChg chg="mod modGraphic">
          <ac:chgData name="Eason Cheng" userId="290a7078160bf5b2" providerId="LiveId" clId="{E2D9881B-88CA-4BDB-A161-7801B24C65D0}" dt="2026-02-26T02:38:57.473" v="3963" actId="2062"/>
          <ac:graphicFrameMkLst>
            <pc:docMk/>
            <pc:sldMk cId="1144585488" sldId="275"/>
            <ac:graphicFrameMk id="4" creationId="{00000000-0000-0000-0000-000000000000}"/>
          </ac:graphicFrameMkLst>
        </pc:graphicFrameChg>
      </pc:sldChg>
      <pc:sldChg chg="modSp mod">
        <pc:chgData name="Eason Cheng" userId="290a7078160bf5b2" providerId="LiveId" clId="{E2D9881B-88CA-4BDB-A161-7801B24C65D0}" dt="2026-02-26T02:38:53.012" v="3962" actId="2062"/>
        <pc:sldMkLst>
          <pc:docMk/>
          <pc:sldMk cId="3586143409" sldId="276"/>
        </pc:sldMkLst>
        <pc:graphicFrameChg chg="mod modGraphic">
          <ac:chgData name="Eason Cheng" userId="290a7078160bf5b2" providerId="LiveId" clId="{E2D9881B-88CA-4BDB-A161-7801B24C65D0}" dt="2026-02-26T02:38:53.012" v="3962" actId="2062"/>
          <ac:graphicFrameMkLst>
            <pc:docMk/>
            <pc:sldMk cId="3586143409" sldId="276"/>
            <ac:graphicFrameMk id="4" creationId="{00000000-0000-0000-0000-000000000000}"/>
          </ac:graphicFrameMkLst>
        </pc:graphicFrameChg>
      </pc:sldChg>
      <pc:sldChg chg="modSp mod">
        <pc:chgData name="Eason Cheng" userId="290a7078160bf5b2" providerId="LiveId" clId="{E2D9881B-88CA-4BDB-A161-7801B24C65D0}" dt="2026-02-26T02:38:47.656" v="3961" actId="2062"/>
        <pc:sldMkLst>
          <pc:docMk/>
          <pc:sldMk cId="3338360619" sldId="277"/>
        </pc:sldMkLst>
        <pc:graphicFrameChg chg="mod modGraphic">
          <ac:chgData name="Eason Cheng" userId="290a7078160bf5b2" providerId="LiveId" clId="{E2D9881B-88CA-4BDB-A161-7801B24C65D0}" dt="2026-02-26T02:38:47.656" v="3961" actId="2062"/>
          <ac:graphicFrameMkLst>
            <pc:docMk/>
            <pc:sldMk cId="3338360619" sldId="277"/>
            <ac:graphicFrameMk id="4" creationId="{BF74805B-DF30-AAC7-80F6-CF97C4467082}"/>
          </ac:graphicFrameMkLst>
        </pc:graphicFrameChg>
      </pc:sldChg>
      <pc:sldChg chg="delSp modSp add mod ord modClrScheme chgLayout">
        <pc:chgData name="Eason Cheng" userId="290a7078160bf5b2" providerId="LiveId" clId="{E2D9881B-88CA-4BDB-A161-7801B24C65D0}" dt="2026-02-26T02:40:03.373" v="3967" actId="20577"/>
        <pc:sldMkLst>
          <pc:docMk/>
          <pc:sldMk cId="261508384" sldId="278"/>
        </pc:sldMkLst>
        <pc:spChg chg="mod ord">
          <ac:chgData name="Eason Cheng" userId="290a7078160bf5b2" providerId="LiveId" clId="{E2D9881B-88CA-4BDB-A161-7801B24C65D0}" dt="2026-02-26T01:17:51.601" v="493" actId="700"/>
          <ac:spMkLst>
            <pc:docMk/>
            <pc:sldMk cId="261508384" sldId="278"/>
            <ac:spMk id="2" creationId="{00000000-0000-0000-0000-000000000000}"/>
          </ac:spMkLst>
        </pc:spChg>
        <pc:spChg chg="del mod ord">
          <ac:chgData name="Eason Cheng" userId="290a7078160bf5b2" providerId="LiveId" clId="{E2D9881B-88CA-4BDB-A161-7801B24C65D0}" dt="2026-02-26T01:17:56.181" v="494" actId="478"/>
          <ac:spMkLst>
            <pc:docMk/>
            <pc:sldMk cId="261508384" sldId="278"/>
            <ac:spMk id="12" creationId="{00000000-0000-0000-0000-000000000000}"/>
          </ac:spMkLst>
        </pc:spChg>
        <pc:graphicFrameChg chg="mod modGraphic">
          <ac:chgData name="Eason Cheng" userId="290a7078160bf5b2" providerId="LiveId" clId="{E2D9881B-88CA-4BDB-A161-7801B24C65D0}" dt="2026-02-26T02:40:03.373" v="3967" actId="20577"/>
          <ac:graphicFrameMkLst>
            <pc:docMk/>
            <pc:sldMk cId="261508384" sldId="278"/>
            <ac:graphicFrameMk id="4" creationId="{00000000-0000-0000-0000-000000000000}"/>
          </ac:graphicFrameMkLst>
        </pc:graphicFrameChg>
      </pc:sldChg>
      <pc:sldChg chg="modSp add mod ord">
        <pc:chgData name="Eason Cheng" userId="290a7078160bf5b2" providerId="LiveId" clId="{E2D9881B-88CA-4BDB-A161-7801B24C65D0}" dt="2026-02-26T02:35:28.633" v="3924"/>
        <pc:sldMkLst>
          <pc:docMk/>
          <pc:sldMk cId="1790034920" sldId="279"/>
        </pc:sldMkLst>
        <pc:graphicFrameChg chg="mod modGraphic">
          <ac:chgData name="Eason Cheng" userId="290a7078160bf5b2" providerId="LiveId" clId="{E2D9881B-88CA-4BDB-A161-7801B24C65D0}" dt="2026-02-26T01:54:43.172" v="3314" actId="20577"/>
          <ac:graphicFrameMkLst>
            <pc:docMk/>
            <pc:sldMk cId="1790034920" sldId="279"/>
            <ac:graphicFrameMk id="4" creationId="{00000000-0000-0000-0000-000000000000}"/>
          </ac:graphicFrameMkLst>
        </pc:graphicFrameChg>
      </pc:sldChg>
      <pc:sldChg chg="addSp modSp new mod">
        <pc:chgData name="Eason Cheng" userId="290a7078160bf5b2" providerId="LiveId" clId="{E2D9881B-88CA-4BDB-A161-7801B24C65D0}" dt="2026-02-26T02:35:51.299" v="3943" actId="255"/>
        <pc:sldMkLst>
          <pc:docMk/>
          <pc:sldMk cId="55617628" sldId="280"/>
        </pc:sldMkLst>
        <pc:spChg chg="add mod">
          <ac:chgData name="Eason Cheng" userId="290a7078160bf5b2" providerId="LiveId" clId="{E2D9881B-88CA-4BDB-A161-7801B24C65D0}" dt="2026-02-26T02:35:51.299" v="3943" actId="255"/>
          <ac:spMkLst>
            <pc:docMk/>
            <pc:sldMk cId="55617628" sldId="280"/>
            <ac:spMk id="3" creationId="{0653EF10-4AAA-4D58-BD23-8789EA714A67}"/>
          </ac:spMkLst>
        </pc:spChg>
      </pc:sldChg>
      <pc:sldMasterChg chg="modSldLayout">
        <pc:chgData name="Eason Cheng" userId="290a7078160bf5b2" providerId="LiveId" clId="{E2D9881B-88CA-4BDB-A161-7801B24C65D0}" dt="2026-02-26T01:17:43.929" v="492" actId="478"/>
        <pc:sldMasterMkLst>
          <pc:docMk/>
          <pc:sldMasterMk cId="3896781589" sldId="2147483660"/>
        </pc:sldMasterMkLst>
        <pc:sldLayoutChg chg="delSp mod">
          <pc:chgData name="Eason Cheng" userId="290a7078160bf5b2" providerId="LiveId" clId="{E2D9881B-88CA-4BDB-A161-7801B24C65D0}" dt="2026-02-26T01:17:43.929" v="492" actId="478"/>
          <pc:sldLayoutMkLst>
            <pc:docMk/>
            <pc:sldMasterMk cId="3896781589" sldId="2147483660"/>
            <pc:sldLayoutMk cId="2494690159" sldId="2147483671"/>
          </pc:sldLayoutMkLst>
          <pc:picChg chg="del">
            <ac:chgData name="Eason Cheng" userId="290a7078160bf5b2" providerId="LiveId" clId="{E2D9881B-88CA-4BDB-A161-7801B24C65D0}" dt="2026-02-26T01:17:43.929" v="492" actId="478"/>
            <ac:picMkLst>
              <pc:docMk/>
              <pc:sldMasterMk cId="3896781589" sldId="2147483660"/>
              <pc:sldLayoutMk cId="2494690159" sldId="2147483671"/>
              <ac:picMk id="24" creationId="{00000000-0000-0000-0000-000000000000}"/>
            </ac:picMkLst>
          </pc:picChg>
        </pc:sldLayoutChg>
      </pc:sldMasterChg>
    </pc:docChg>
  </pc:docChgLst>
  <pc:docChgLst>
    <pc:chgData name="Eason Cheng" userId="290a7078160bf5b2" providerId="LiveId" clId="{6884B3FA-A2D3-40B7-9018-A325769A5FA8}"/>
    <pc:docChg chg="undo custSel addSld modSld">
      <pc:chgData name="Eason Cheng" userId="290a7078160bf5b2" providerId="LiveId" clId="{6884B3FA-A2D3-40B7-9018-A325769A5FA8}" dt="2026-02-25T15:34:26.723" v="1488" actId="20577"/>
      <pc:docMkLst>
        <pc:docMk/>
      </pc:docMkLst>
      <pc:sldChg chg="modSp mod">
        <pc:chgData name="Eason Cheng" userId="290a7078160bf5b2" providerId="LiveId" clId="{6884B3FA-A2D3-40B7-9018-A325769A5FA8}" dt="2026-02-25T15:33:33.050" v="1459"/>
        <pc:sldMkLst>
          <pc:docMk/>
          <pc:sldMk cId="2276970588" sldId="271"/>
        </pc:sldMkLst>
        <pc:spChg chg="mod">
          <ac:chgData name="Eason Cheng" userId="290a7078160bf5b2" providerId="LiveId" clId="{6884B3FA-A2D3-40B7-9018-A325769A5FA8}" dt="2026-02-25T15:30:31.147" v="1356" actId="20577"/>
          <ac:spMkLst>
            <pc:docMk/>
            <pc:sldMk cId="2276970588" sldId="271"/>
            <ac:spMk id="12" creationId="{00000000-0000-0000-0000-000000000000}"/>
          </ac:spMkLst>
        </pc:spChg>
        <pc:graphicFrameChg chg="mod modGraphic">
          <ac:chgData name="Eason Cheng" userId="290a7078160bf5b2" providerId="LiveId" clId="{6884B3FA-A2D3-40B7-9018-A325769A5FA8}" dt="2026-02-25T15:33:33.050" v="1459"/>
          <ac:graphicFrameMkLst>
            <pc:docMk/>
            <pc:sldMk cId="2276970588" sldId="271"/>
            <ac:graphicFrameMk id="4" creationId="{00000000-0000-0000-0000-000000000000}"/>
          </ac:graphicFrameMkLst>
        </pc:graphicFrameChg>
      </pc:sldChg>
      <pc:sldChg chg="modSp mod">
        <pc:chgData name="Eason Cheng" userId="290a7078160bf5b2" providerId="LiveId" clId="{6884B3FA-A2D3-40B7-9018-A325769A5FA8}" dt="2026-02-25T15:32:32.828" v="1427" actId="20577"/>
        <pc:sldMkLst>
          <pc:docMk/>
          <pc:sldMk cId="1862916394" sldId="274"/>
        </pc:sldMkLst>
        <pc:spChg chg="mod">
          <ac:chgData name="Eason Cheng" userId="290a7078160bf5b2" providerId="LiveId" clId="{6884B3FA-A2D3-40B7-9018-A325769A5FA8}" dt="2026-02-25T15:30:33.778" v="1358" actId="20577"/>
          <ac:spMkLst>
            <pc:docMk/>
            <pc:sldMk cId="1862916394" sldId="274"/>
            <ac:spMk id="12" creationId="{00000000-0000-0000-0000-000000000000}"/>
          </ac:spMkLst>
        </pc:spChg>
        <pc:graphicFrameChg chg="mod modGraphic">
          <ac:chgData name="Eason Cheng" userId="290a7078160bf5b2" providerId="LiveId" clId="{6884B3FA-A2D3-40B7-9018-A325769A5FA8}" dt="2026-02-25T15:32:32.828" v="1427" actId="20577"/>
          <ac:graphicFrameMkLst>
            <pc:docMk/>
            <pc:sldMk cId="1862916394" sldId="274"/>
            <ac:graphicFrameMk id="4" creationId="{00000000-0000-0000-0000-000000000000}"/>
          </ac:graphicFrameMkLst>
        </pc:graphicFrameChg>
      </pc:sldChg>
      <pc:sldChg chg="modSp mod">
        <pc:chgData name="Eason Cheng" userId="290a7078160bf5b2" providerId="LiveId" clId="{6884B3FA-A2D3-40B7-9018-A325769A5FA8}" dt="2026-02-25T15:32:44.419" v="1430"/>
        <pc:sldMkLst>
          <pc:docMk/>
          <pc:sldMk cId="1144585488" sldId="275"/>
        </pc:sldMkLst>
        <pc:spChg chg="mod">
          <ac:chgData name="Eason Cheng" userId="290a7078160bf5b2" providerId="LiveId" clId="{6884B3FA-A2D3-40B7-9018-A325769A5FA8}" dt="2026-02-25T15:30:36.970" v="1360" actId="20577"/>
          <ac:spMkLst>
            <pc:docMk/>
            <pc:sldMk cId="1144585488" sldId="275"/>
            <ac:spMk id="12" creationId="{00000000-0000-0000-0000-000000000000}"/>
          </ac:spMkLst>
        </pc:spChg>
        <pc:graphicFrameChg chg="mod modGraphic">
          <ac:chgData name="Eason Cheng" userId="290a7078160bf5b2" providerId="LiveId" clId="{6884B3FA-A2D3-40B7-9018-A325769A5FA8}" dt="2026-02-25T15:32:44.419" v="1430"/>
          <ac:graphicFrameMkLst>
            <pc:docMk/>
            <pc:sldMk cId="1144585488" sldId="275"/>
            <ac:graphicFrameMk id="4" creationId="{00000000-0000-0000-0000-000000000000}"/>
          </ac:graphicFrameMkLst>
        </pc:graphicFrameChg>
      </pc:sldChg>
      <pc:sldChg chg="modSp mod">
        <pc:chgData name="Eason Cheng" userId="290a7078160bf5b2" providerId="LiveId" clId="{6884B3FA-A2D3-40B7-9018-A325769A5FA8}" dt="2026-02-25T15:33:20.376" v="1457"/>
        <pc:sldMkLst>
          <pc:docMk/>
          <pc:sldMk cId="3586143409" sldId="276"/>
        </pc:sldMkLst>
        <pc:spChg chg="mod">
          <ac:chgData name="Eason Cheng" userId="290a7078160bf5b2" providerId="LiveId" clId="{6884B3FA-A2D3-40B7-9018-A325769A5FA8}" dt="2026-02-25T15:30:40.121" v="1362" actId="20577"/>
          <ac:spMkLst>
            <pc:docMk/>
            <pc:sldMk cId="3586143409" sldId="276"/>
            <ac:spMk id="12" creationId="{00000000-0000-0000-0000-000000000000}"/>
          </ac:spMkLst>
        </pc:spChg>
        <pc:graphicFrameChg chg="mod modGraphic">
          <ac:chgData name="Eason Cheng" userId="290a7078160bf5b2" providerId="LiveId" clId="{6884B3FA-A2D3-40B7-9018-A325769A5FA8}" dt="2026-02-25T15:33:20.376" v="1457"/>
          <ac:graphicFrameMkLst>
            <pc:docMk/>
            <pc:sldMk cId="3586143409" sldId="276"/>
            <ac:graphicFrameMk id="4" creationId="{00000000-0000-0000-0000-000000000000}"/>
          </ac:graphicFrameMkLst>
        </pc:graphicFrameChg>
      </pc:sldChg>
      <pc:sldChg chg="modSp add mod">
        <pc:chgData name="Eason Cheng" userId="290a7078160bf5b2" providerId="LiveId" clId="{6884B3FA-A2D3-40B7-9018-A325769A5FA8}" dt="2026-02-25T15:34:26.723" v="1488" actId="20577"/>
        <pc:sldMkLst>
          <pc:docMk/>
          <pc:sldMk cId="3338360619" sldId="277"/>
        </pc:sldMkLst>
        <pc:spChg chg="mod">
          <ac:chgData name="Eason Cheng" userId="290a7078160bf5b2" providerId="LiveId" clId="{6884B3FA-A2D3-40B7-9018-A325769A5FA8}" dt="2026-02-25T15:30:43.366" v="1364" actId="20577"/>
          <ac:spMkLst>
            <pc:docMk/>
            <pc:sldMk cId="3338360619" sldId="277"/>
            <ac:spMk id="12" creationId="{66CF91F0-DDCA-4EBE-9FEB-D7DE42B15B79}"/>
          </ac:spMkLst>
        </pc:spChg>
        <pc:graphicFrameChg chg="mod modGraphic">
          <ac:chgData name="Eason Cheng" userId="290a7078160bf5b2" providerId="LiveId" clId="{6884B3FA-A2D3-40B7-9018-A325769A5FA8}" dt="2026-02-25T15:34:26.723" v="1488" actId="20577"/>
          <ac:graphicFrameMkLst>
            <pc:docMk/>
            <pc:sldMk cId="3338360619" sldId="277"/>
            <ac:graphicFrameMk id="4" creationId="{BF74805B-DF30-AAC7-80F6-CF97C4467082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3CF20D-3C13-41E6-9231-1CE85C918A03}" type="datetimeFigureOut">
              <a:rPr lang="zh-TW" altLang="en-US" smtClean="0"/>
              <a:pPr/>
              <a:t>2026/3/5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1D2531-27D1-4058-AEE8-EC86FD5DF91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1D2531-27D1-4058-AEE8-EC86FD5DF913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70751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1D2531-27D1-4058-AEE8-EC86FD5DF913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75832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1D2531-27D1-4058-AEE8-EC86FD5DF913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10000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1D2531-27D1-4058-AEE8-EC86FD5DF913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16170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4E033-D669-2B0E-C7F3-E77E98DF9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CDB00842-D5CA-742E-B13F-AA0B177FC0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CEFF26E-CD1A-B351-D0F0-47B7444503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CD64B02-76B2-4EE6-8397-D33D5A89DA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1D2531-27D1-4058-AEE8-EC86FD5DF913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05059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1D2531-27D1-4058-AEE8-EC86FD5DF913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93942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1D2531-27D1-4058-AEE8-EC86FD5DF913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22040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6228655"/>
            <a:ext cx="12192000" cy="62934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等腰三角形 6"/>
          <p:cNvSpPr/>
          <p:nvPr userDrawn="1"/>
        </p:nvSpPr>
        <p:spPr>
          <a:xfrm>
            <a:off x="-1" y="4126833"/>
            <a:ext cx="1973179" cy="2731168"/>
          </a:xfrm>
          <a:prstGeom prst="triangle">
            <a:avLst>
              <a:gd name="adj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平行四边形 7"/>
          <p:cNvSpPr/>
          <p:nvPr userDrawn="1"/>
        </p:nvSpPr>
        <p:spPr>
          <a:xfrm rot="3043020">
            <a:off x="9971660" y="115437"/>
            <a:ext cx="3914643" cy="1700426"/>
          </a:xfrm>
          <a:prstGeom prst="parallelogram">
            <a:avLst/>
          </a:prstGeom>
          <a:solidFill>
            <a:srgbClr val="FFB6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1"/>
          </p:nvPr>
        </p:nvSpPr>
        <p:spPr>
          <a:xfrm>
            <a:off x="11194991" y="6356356"/>
            <a:ext cx="842482" cy="365125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fld id="{A99B09EC-0F5A-4ED1-9D27-B6EB06E679C1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2" name="日期版面配置區 1"/>
          <p:cNvSpPr>
            <a:spLocks noGrp="1"/>
          </p:cNvSpPr>
          <p:nvPr>
            <p:ph type="dt" sz="half" idx="12"/>
          </p:nvPr>
        </p:nvSpPr>
        <p:spPr>
          <a:xfrm>
            <a:off x="292023" y="6356356"/>
            <a:ext cx="2743200" cy="365125"/>
          </a:xfrm>
        </p:spPr>
        <p:txBody>
          <a:bodyPr vert="horz" lIns="91440" tIns="45720" rIns="91440" bIns="45720" rtlCol="0" anchor="ctr"/>
          <a:lstStyle>
            <a:lvl1pPr algn="l">
              <a:defRPr lang="zh-CN" altLang="en-US">
                <a:solidFill>
                  <a:schemeClr val="bg1"/>
                </a:solidFill>
                <a:latin typeface="+mn-ea"/>
              </a:defRPr>
            </a:lvl1pPr>
          </a:lstStyle>
          <a:p>
            <a:endParaRPr lang="zh-TW" dirty="0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3"/>
          </p:nvPr>
        </p:nvSpPr>
        <p:spPr>
          <a:xfrm>
            <a:off x="3492423" y="6356356"/>
            <a:ext cx="4114800" cy="365125"/>
          </a:xfrm>
        </p:spPr>
        <p:txBody>
          <a:bodyPr/>
          <a:lstStyle>
            <a:lvl1pPr>
              <a:defRPr lang="zh-CN" altLang="en-US" sz="1200" kern="1200" dirty="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</a:lstStyle>
          <a:p>
            <a:endParaRPr lang="zh-TW" altLang="en-US" dirty="0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4495800" y="2276847"/>
            <a:ext cx="7018020" cy="1325563"/>
          </a:xfrm>
        </p:spPr>
        <p:txBody>
          <a:bodyPr anchor="b"/>
          <a:lstStyle>
            <a:lvl1pPr>
              <a:defRPr b="1">
                <a:solidFill>
                  <a:schemeClr val="tx2"/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10" name="平行四边形 7"/>
          <p:cNvSpPr/>
          <p:nvPr userDrawn="1"/>
        </p:nvSpPr>
        <p:spPr>
          <a:xfrm rot="3043020">
            <a:off x="9169039" y="1900440"/>
            <a:ext cx="4565379" cy="636173"/>
          </a:xfrm>
          <a:prstGeom prst="parallelogram">
            <a:avLst>
              <a:gd name="adj" fmla="val 8040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平行四边形 7"/>
          <p:cNvSpPr/>
          <p:nvPr userDrawn="1"/>
        </p:nvSpPr>
        <p:spPr>
          <a:xfrm rot="3043020">
            <a:off x="-2511918" y="3583744"/>
            <a:ext cx="6101522" cy="1535993"/>
          </a:xfrm>
          <a:prstGeom prst="parallelogram">
            <a:avLst>
              <a:gd name="adj" fmla="val 80754"/>
            </a:avLst>
          </a:prstGeom>
          <a:solidFill>
            <a:srgbClr val="FFB6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平行四边形 7"/>
          <p:cNvSpPr/>
          <p:nvPr userDrawn="1"/>
        </p:nvSpPr>
        <p:spPr>
          <a:xfrm rot="3043020">
            <a:off x="-760774" y="3363136"/>
            <a:ext cx="3291865" cy="162894"/>
          </a:xfrm>
          <a:prstGeom prst="parallelogram">
            <a:avLst>
              <a:gd name="adj" fmla="val 8040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平行四边形 7"/>
          <p:cNvSpPr/>
          <p:nvPr userDrawn="1"/>
        </p:nvSpPr>
        <p:spPr>
          <a:xfrm rot="3043020">
            <a:off x="-1561079" y="4653862"/>
            <a:ext cx="3930651" cy="320821"/>
          </a:xfrm>
          <a:prstGeom prst="parallelogram">
            <a:avLst>
              <a:gd name="adj" fmla="val 8040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圖片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523" y="250263"/>
            <a:ext cx="2451177" cy="1881845"/>
          </a:xfrm>
          <a:prstGeom prst="rect">
            <a:avLst/>
          </a:prstGeom>
        </p:spPr>
      </p:pic>
      <p:pic>
        <p:nvPicPr>
          <p:cNvPr id="15" name="圖片 1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2099" y="6402077"/>
            <a:ext cx="1997651" cy="313248"/>
          </a:xfrm>
          <a:prstGeom prst="rect">
            <a:avLst/>
          </a:prstGeom>
        </p:spPr>
      </p:pic>
      <p:sp>
        <p:nvSpPr>
          <p:cNvPr id="16" name="副标题 2"/>
          <p:cNvSpPr>
            <a:spLocks noGrp="1"/>
          </p:cNvSpPr>
          <p:nvPr>
            <p:ph type="subTitle" idx="1"/>
          </p:nvPr>
        </p:nvSpPr>
        <p:spPr>
          <a:xfrm>
            <a:off x="4495800" y="3622063"/>
            <a:ext cx="7637092" cy="756317"/>
          </a:xfrm>
        </p:spPr>
        <p:txBody>
          <a:bodyPr>
            <a:normAutofit/>
          </a:bodyPr>
          <a:lstStyle>
            <a:lvl1pPr marL="0" indent="0" algn="l">
              <a:buNone/>
              <a:defRPr sz="3600" b="1">
                <a:latin typeface="+mj-ea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dirty="0"/>
              <a:t>按一下以編輯母片副標題樣式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13274238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投影片編號版面配置區 5"/>
          <p:cNvSpPr>
            <a:spLocks noGrp="1"/>
          </p:cNvSpPr>
          <p:nvPr>
            <p:ph type="sldNum" sz="quarter" idx="11"/>
          </p:nvPr>
        </p:nvSpPr>
        <p:spPr>
          <a:xfrm>
            <a:off x="11194991" y="6484546"/>
            <a:ext cx="842482" cy="365125"/>
          </a:xfrm>
        </p:spPr>
        <p:txBody>
          <a:bodyPr/>
          <a:lstStyle>
            <a:lvl1pPr algn="r">
              <a:defRPr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</a:lstStyle>
          <a:p>
            <a:fld id="{A99B09EC-0F5A-4ED1-9D27-B6EB06E679C1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pic>
        <p:nvPicPr>
          <p:cNvPr id="24" name="圖片 23"/>
          <p:cNvPicPr>
            <a:picLocks noChangeAspect="1"/>
          </p:cNvPicPr>
          <p:nvPr userDrawn="1"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005" y="156208"/>
            <a:ext cx="989925" cy="888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864342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投影片編號版面配置區 5"/>
          <p:cNvSpPr>
            <a:spLocks noGrp="1"/>
          </p:cNvSpPr>
          <p:nvPr>
            <p:ph type="sldNum" sz="quarter" idx="11"/>
          </p:nvPr>
        </p:nvSpPr>
        <p:spPr>
          <a:xfrm>
            <a:off x="11194991" y="6484546"/>
            <a:ext cx="842482" cy="365125"/>
          </a:xfrm>
        </p:spPr>
        <p:txBody>
          <a:bodyPr/>
          <a:lstStyle>
            <a:lvl1pPr algn="r">
              <a:defRPr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</a:lstStyle>
          <a:p>
            <a:fld id="{A99B09EC-0F5A-4ED1-9D27-B6EB06E679C1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94690159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4"/>
          <p:cNvSpPr>
            <a:spLocks noGrp="1"/>
          </p:cNvSpPr>
          <p:nvPr>
            <p:ph type="title"/>
          </p:nvPr>
        </p:nvSpPr>
        <p:spPr>
          <a:xfrm>
            <a:off x="1583819" y="226450"/>
            <a:ext cx="9046082" cy="1687808"/>
          </a:xfrm>
        </p:spPr>
        <p:txBody>
          <a:bodyPr anchor="ctr">
            <a:normAutofit/>
          </a:bodyPr>
          <a:lstStyle>
            <a:lvl1pPr algn="l"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10" name="副标题 2"/>
          <p:cNvSpPr>
            <a:spLocks noGrp="1"/>
          </p:cNvSpPr>
          <p:nvPr>
            <p:ph type="subTitle" idx="1"/>
          </p:nvPr>
        </p:nvSpPr>
        <p:spPr>
          <a:xfrm>
            <a:off x="1583819" y="2251811"/>
            <a:ext cx="8748045" cy="756317"/>
          </a:xfrm>
        </p:spPr>
        <p:txBody>
          <a:bodyPr>
            <a:normAutofit/>
          </a:bodyPr>
          <a:lstStyle>
            <a:lvl1pPr marL="0" indent="0" algn="ctr">
              <a:buNone/>
              <a:defRPr sz="4400" b="1">
                <a:solidFill>
                  <a:schemeClr val="tx2"/>
                </a:solidFill>
                <a:latin typeface="+mj-ea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dirty="0"/>
              <a:t>按一下以編輯母片副標題樣式</a:t>
            </a:r>
            <a:endParaRPr lang="zh-CN" altLang="en-US" dirty="0"/>
          </a:p>
        </p:txBody>
      </p:sp>
      <p:sp>
        <p:nvSpPr>
          <p:cNvPr id="12" name="文字版面配置區 11"/>
          <p:cNvSpPr>
            <a:spLocks noGrp="1"/>
          </p:cNvSpPr>
          <p:nvPr>
            <p:ph type="body" sz="quarter" idx="10"/>
          </p:nvPr>
        </p:nvSpPr>
        <p:spPr>
          <a:xfrm>
            <a:off x="2870200" y="3469593"/>
            <a:ext cx="8956676" cy="3170920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2"/>
                </a:solidFill>
              </a:defRPr>
            </a:lvl1pPr>
            <a:lvl2pPr>
              <a:defRPr sz="2800">
                <a:solidFill>
                  <a:schemeClr val="tx2"/>
                </a:solidFill>
              </a:defRPr>
            </a:lvl2pPr>
            <a:lvl3pPr>
              <a:defRPr sz="2400">
                <a:solidFill>
                  <a:schemeClr val="tx2"/>
                </a:solidFill>
              </a:defRPr>
            </a:lvl3pPr>
            <a:lvl4pPr>
              <a:defRPr sz="2000">
                <a:solidFill>
                  <a:schemeClr val="tx2"/>
                </a:solidFill>
              </a:defRPr>
            </a:lvl4pPr>
            <a:lvl5pPr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11" name="投影片編號版面配置區 5"/>
          <p:cNvSpPr>
            <a:spLocks noGrp="1"/>
          </p:cNvSpPr>
          <p:nvPr>
            <p:ph type="sldNum" sz="quarter" idx="11"/>
          </p:nvPr>
        </p:nvSpPr>
        <p:spPr>
          <a:xfrm>
            <a:off x="11194991" y="6484546"/>
            <a:ext cx="842482" cy="365125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fld id="{A99B09EC-0F5A-4ED1-9D27-B6EB06E679C1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13" name="等腰三角形 12"/>
          <p:cNvSpPr/>
          <p:nvPr userDrawn="1"/>
        </p:nvSpPr>
        <p:spPr>
          <a:xfrm>
            <a:off x="-1" y="4126833"/>
            <a:ext cx="1973179" cy="2731168"/>
          </a:xfrm>
          <a:prstGeom prst="triangle">
            <a:avLst>
              <a:gd name="adj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平行四边形 7"/>
          <p:cNvSpPr/>
          <p:nvPr userDrawn="1"/>
        </p:nvSpPr>
        <p:spPr>
          <a:xfrm rot="3043020">
            <a:off x="9823422" y="80104"/>
            <a:ext cx="4125599" cy="1796690"/>
          </a:xfrm>
          <a:prstGeom prst="parallelogram">
            <a:avLst/>
          </a:prstGeom>
          <a:solidFill>
            <a:srgbClr val="FFB6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平行四边形 7"/>
          <p:cNvSpPr/>
          <p:nvPr userDrawn="1"/>
        </p:nvSpPr>
        <p:spPr>
          <a:xfrm rot="3043020">
            <a:off x="8818746" y="1704061"/>
            <a:ext cx="4778740" cy="453773"/>
          </a:xfrm>
          <a:prstGeom prst="parallelogram">
            <a:avLst>
              <a:gd name="adj" fmla="val 8040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平行四边形 7"/>
          <p:cNvSpPr/>
          <p:nvPr userDrawn="1"/>
        </p:nvSpPr>
        <p:spPr>
          <a:xfrm rot="3043020">
            <a:off x="-2709183" y="3872228"/>
            <a:ext cx="6968012" cy="1535993"/>
          </a:xfrm>
          <a:prstGeom prst="parallelogram">
            <a:avLst>
              <a:gd name="adj" fmla="val 80754"/>
            </a:avLst>
          </a:prstGeom>
          <a:solidFill>
            <a:srgbClr val="FFB6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平行四边形 7"/>
          <p:cNvSpPr/>
          <p:nvPr userDrawn="1"/>
        </p:nvSpPr>
        <p:spPr>
          <a:xfrm rot="3043020">
            <a:off x="-936232" y="3729414"/>
            <a:ext cx="4242007" cy="162894"/>
          </a:xfrm>
          <a:prstGeom prst="parallelogram">
            <a:avLst>
              <a:gd name="adj" fmla="val 8040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平行四边形 7"/>
          <p:cNvSpPr/>
          <p:nvPr userDrawn="1"/>
        </p:nvSpPr>
        <p:spPr>
          <a:xfrm rot="3043020">
            <a:off x="-945387" y="5059475"/>
            <a:ext cx="3362844" cy="320821"/>
          </a:xfrm>
          <a:prstGeom prst="parallelogram">
            <a:avLst>
              <a:gd name="adj" fmla="val 8040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4" name="圖片 2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005" y="128912"/>
            <a:ext cx="989925" cy="888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274238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投影片編號版面配置區 5"/>
          <p:cNvSpPr>
            <a:spLocks noGrp="1"/>
          </p:cNvSpPr>
          <p:nvPr>
            <p:ph type="sldNum" sz="quarter" idx="11"/>
          </p:nvPr>
        </p:nvSpPr>
        <p:spPr>
          <a:xfrm>
            <a:off x="11194991" y="6484546"/>
            <a:ext cx="842482" cy="365125"/>
          </a:xfrm>
        </p:spPr>
        <p:txBody>
          <a:bodyPr/>
          <a:lstStyle>
            <a:lvl1pPr algn="r">
              <a:defRPr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</a:lstStyle>
          <a:p>
            <a:fld id="{A99B09EC-0F5A-4ED1-9D27-B6EB06E679C1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13" name="等腰三角形 12"/>
          <p:cNvSpPr/>
          <p:nvPr userDrawn="1"/>
        </p:nvSpPr>
        <p:spPr>
          <a:xfrm>
            <a:off x="-122833" y="4468033"/>
            <a:ext cx="1973179" cy="2731168"/>
          </a:xfrm>
          <a:prstGeom prst="triangle">
            <a:avLst>
              <a:gd name="adj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平行四边形 7"/>
          <p:cNvSpPr/>
          <p:nvPr userDrawn="1"/>
        </p:nvSpPr>
        <p:spPr>
          <a:xfrm rot="3043020">
            <a:off x="10994164" y="-6622"/>
            <a:ext cx="2123235" cy="940528"/>
          </a:xfrm>
          <a:prstGeom prst="parallelogram">
            <a:avLst/>
          </a:prstGeom>
          <a:solidFill>
            <a:srgbClr val="FFB6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平行四边形 7"/>
          <p:cNvSpPr/>
          <p:nvPr userDrawn="1"/>
        </p:nvSpPr>
        <p:spPr>
          <a:xfrm rot="3043020">
            <a:off x="10560291" y="886761"/>
            <a:ext cx="2330582" cy="264955"/>
          </a:xfrm>
          <a:prstGeom prst="parallelogram">
            <a:avLst>
              <a:gd name="adj" fmla="val 8040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平行四边形 7"/>
          <p:cNvSpPr/>
          <p:nvPr userDrawn="1"/>
        </p:nvSpPr>
        <p:spPr>
          <a:xfrm rot="3043020">
            <a:off x="-854402" y="5094487"/>
            <a:ext cx="2833857" cy="320821"/>
          </a:xfrm>
          <a:prstGeom prst="parallelogram">
            <a:avLst>
              <a:gd name="adj" fmla="val 8040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4" name="圖片 23"/>
          <p:cNvPicPr>
            <a:picLocks noChangeAspect="1"/>
          </p:cNvPicPr>
          <p:nvPr userDrawn="1"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005" y="156208"/>
            <a:ext cx="989925" cy="888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50411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平行四边形 11"/>
          <p:cNvSpPr/>
          <p:nvPr userDrawn="1"/>
        </p:nvSpPr>
        <p:spPr>
          <a:xfrm rot="20086927">
            <a:off x="-566387" y="-701438"/>
            <a:ext cx="4408709" cy="1541066"/>
          </a:xfrm>
          <a:prstGeom prst="parallelogram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平行四边形 11"/>
          <p:cNvSpPr/>
          <p:nvPr userDrawn="1"/>
        </p:nvSpPr>
        <p:spPr>
          <a:xfrm rot="20116904">
            <a:off x="-575937" y="357565"/>
            <a:ext cx="7014878" cy="1025968"/>
          </a:xfrm>
          <a:prstGeom prst="parallelogram">
            <a:avLst/>
          </a:prstGeom>
          <a:solidFill>
            <a:srgbClr val="FFB6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1" y="1504059"/>
            <a:ext cx="12192004" cy="5353939"/>
          </a:xfrm>
          <a:prstGeom prst="rect">
            <a:avLst/>
          </a:prstGeom>
          <a:solidFill>
            <a:schemeClr val="accent5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>
          <a:xfrm>
            <a:off x="290557" y="136733"/>
            <a:ext cx="11545368" cy="1290415"/>
          </a:xfrm>
        </p:spPr>
        <p:txBody>
          <a:bodyPr anchor="ctr"/>
          <a:lstStyle>
            <a:lvl1pPr>
              <a:defRPr b="1">
                <a:solidFill>
                  <a:schemeClr val="tx2"/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6" name="副标题 2"/>
          <p:cNvSpPr>
            <a:spLocks noGrp="1"/>
          </p:cNvSpPr>
          <p:nvPr>
            <p:ph type="subTitle" idx="1"/>
          </p:nvPr>
        </p:nvSpPr>
        <p:spPr>
          <a:xfrm>
            <a:off x="290557" y="1551047"/>
            <a:ext cx="11571006" cy="756317"/>
          </a:xfrm>
        </p:spPr>
        <p:txBody>
          <a:bodyPr anchor="ctr">
            <a:normAutofit/>
          </a:bodyPr>
          <a:lstStyle>
            <a:lvl1pPr marL="0" indent="0" algn="l">
              <a:buNone/>
              <a:defRPr sz="3600" b="1">
                <a:solidFill>
                  <a:schemeClr val="accent5"/>
                </a:solidFill>
                <a:latin typeface="+mj-ea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dirty="0"/>
              <a:t>按一下以編輯母片副標題樣式</a:t>
            </a:r>
            <a:endParaRPr lang="zh-CN" altLang="en-US" dirty="0"/>
          </a:p>
        </p:txBody>
      </p:sp>
      <p:sp>
        <p:nvSpPr>
          <p:cNvPr id="9" name="內容版面配置區 8"/>
          <p:cNvSpPr>
            <a:spLocks noGrp="1"/>
          </p:cNvSpPr>
          <p:nvPr>
            <p:ph sz="quarter" idx="10"/>
          </p:nvPr>
        </p:nvSpPr>
        <p:spPr>
          <a:xfrm>
            <a:off x="290556" y="2333002"/>
            <a:ext cx="11588097" cy="4290048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accent5"/>
                </a:solidFill>
              </a:defRPr>
            </a:lvl1pPr>
            <a:lvl2pPr>
              <a:defRPr sz="2800">
                <a:solidFill>
                  <a:schemeClr val="accent5"/>
                </a:solidFill>
              </a:defRPr>
            </a:lvl2pPr>
            <a:lvl3pPr>
              <a:defRPr sz="2400">
                <a:solidFill>
                  <a:schemeClr val="accent5"/>
                </a:solidFill>
              </a:defRPr>
            </a:lvl3pPr>
            <a:lvl4pPr>
              <a:defRPr sz="2000">
                <a:solidFill>
                  <a:schemeClr val="accent5"/>
                </a:solidFill>
              </a:defRPr>
            </a:lvl4pPr>
            <a:lvl5pPr>
              <a:defRPr sz="2000">
                <a:solidFill>
                  <a:schemeClr val="accent5"/>
                </a:solidFill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10" name="投影片編號版面配置區 5"/>
          <p:cNvSpPr>
            <a:spLocks noGrp="1"/>
          </p:cNvSpPr>
          <p:nvPr>
            <p:ph type="sldNum" sz="quarter" idx="11"/>
          </p:nvPr>
        </p:nvSpPr>
        <p:spPr>
          <a:xfrm>
            <a:off x="11194991" y="6484546"/>
            <a:ext cx="842482" cy="365125"/>
          </a:xfrm>
        </p:spPr>
        <p:txBody>
          <a:bodyPr/>
          <a:lstStyle>
            <a:lvl1pPr algn="r"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</a:lstStyle>
          <a:p>
            <a:fld id="{A99B09EC-0F5A-4ED1-9D27-B6EB06E679C1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pic>
        <p:nvPicPr>
          <p:cNvPr id="14" name="圖片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273" y="6084377"/>
            <a:ext cx="697228" cy="625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740892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 flipV="1">
            <a:off x="1" y="0"/>
            <a:ext cx="12192004" cy="1504059"/>
          </a:xfrm>
          <a:prstGeom prst="rect">
            <a:avLst/>
          </a:prstGeom>
          <a:solidFill>
            <a:schemeClr val="accent5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平行四边形 11"/>
          <p:cNvSpPr/>
          <p:nvPr userDrawn="1"/>
        </p:nvSpPr>
        <p:spPr>
          <a:xfrm rot="20086927">
            <a:off x="-593930" y="-699065"/>
            <a:ext cx="4453722" cy="1541066"/>
          </a:xfrm>
          <a:prstGeom prst="parallelogram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平行四边形 11"/>
          <p:cNvSpPr/>
          <p:nvPr userDrawn="1"/>
        </p:nvSpPr>
        <p:spPr>
          <a:xfrm rot="20116904">
            <a:off x="-576282" y="363923"/>
            <a:ext cx="6987948" cy="1025968"/>
          </a:xfrm>
          <a:prstGeom prst="parallelogram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 flipV="1">
            <a:off x="149" y="1427148"/>
            <a:ext cx="12192004" cy="557771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>
          <a:xfrm>
            <a:off x="290557" y="136733"/>
            <a:ext cx="11545368" cy="1290415"/>
          </a:xfrm>
        </p:spPr>
        <p:txBody>
          <a:bodyPr anchor="ctr"/>
          <a:lstStyle>
            <a:lvl1pPr>
              <a:defRPr b="1">
                <a:solidFill>
                  <a:schemeClr val="accent5"/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6" name="副标题 2"/>
          <p:cNvSpPr>
            <a:spLocks noGrp="1"/>
          </p:cNvSpPr>
          <p:nvPr>
            <p:ph type="subTitle" idx="1"/>
          </p:nvPr>
        </p:nvSpPr>
        <p:spPr>
          <a:xfrm>
            <a:off x="290557" y="1551047"/>
            <a:ext cx="11571006" cy="756317"/>
          </a:xfrm>
        </p:spPr>
        <p:txBody>
          <a:bodyPr anchor="ctr">
            <a:normAutofit/>
          </a:bodyPr>
          <a:lstStyle>
            <a:lvl1pPr marL="0" indent="0" algn="l">
              <a:buNone/>
              <a:defRPr sz="3600" b="1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dirty="0"/>
              <a:t>按一下以編輯母片副標題樣式</a:t>
            </a:r>
            <a:endParaRPr lang="zh-CN" altLang="en-US" dirty="0"/>
          </a:p>
        </p:txBody>
      </p:sp>
      <p:sp>
        <p:nvSpPr>
          <p:cNvPr id="9" name="內容版面配置區 8"/>
          <p:cNvSpPr>
            <a:spLocks noGrp="1"/>
          </p:cNvSpPr>
          <p:nvPr>
            <p:ph sz="quarter" idx="10"/>
          </p:nvPr>
        </p:nvSpPr>
        <p:spPr>
          <a:xfrm>
            <a:off x="290556" y="2333002"/>
            <a:ext cx="11588097" cy="4290048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2"/>
                </a:solidFill>
              </a:defRPr>
            </a:lvl1pPr>
            <a:lvl2pPr>
              <a:defRPr sz="2800">
                <a:solidFill>
                  <a:schemeClr val="tx2"/>
                </a:solidFill>
              </a:defRPr>
            </a:lvl2pPr>
            <a:lvl3pPr>
              <a:defRPr sz="2400">
                <a:solidFill>
                  <a:schemeClr val="tx2"/>
                </a:solidFill>
              </a:defRPr>
            </a:lvl3pPr>
            <a:lvl4pPr>
              <a:defRPr sz="2000">
                <a:solidFill>
                  <a:schemeClr val="tx2"/>
                </a:solidFill>
              </a:defRPr>
            </a:lvl4pPr>
            <a:lvl5pPr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10" name="投影片編號版面配置區 5"/>
          <p:cNvSpPr>
            <a:spLocks noGrp="1"/>
          </p:cNvSpPr>
          <p:nvPr>
            <p:ph type="sldNum" sz="quarter" idx="11"/>
          </p:nvPr>
        </p:nvSpPr>
        <p:spPr>
          <a:xfrm>
            <a:off x="11194991" y="6484546"/>
            <a:ext cx="842482" cy="365125"/>
          </a:xfrm>
        </p:spPr>
        <p:txBody>
          <a:bodyPr/>
          <a:lstStyle>
            <a:lvl1pPr algn="r"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</a:lstStyle>
          <a:p>
            <a:fld id="{A99B09EC-0F5A-4ED1-9D27-B6EB06E679C1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pic>
        <p:nvPicPr>
          <p:cNvPr id="14" name="圖片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273" y="6084377"/>
            <a:ext cx="697227" cy="625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110354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3665362" y="-51017"/>
            <a:ext cx="8526638" cy="6900688"/>
          </a:xfrm>
          <a:custGeom>
            <a:avLst/>
            <a:gdLst>
              <a:gd name="connsiteX0" fmla="*/ 0 w 7703820"/>
              <a:gd name="connsiteY0" fmla="*/ 0 h 6849671"/>
              <a:gd name="connsiteX1" fmla="*/ 7703820 w 7703820"/>
              <a:gd name="connsiteY1" fmla="*/ 0 h 6849671"/>
              <a:gd name="connsiteX2" fmla="*/ 7703820 w 7703820"/>
              <a:gd name="connsiteY2" fmla="*/ 6849671 h 6849671"/>
              <a:gd name="connsiteX3" fmla="*/ 0 w 7703820"/>
              <a:gd name="connsiteY3" fmla="*/ 6849671 h 6849671"/>
              <a:gd name="connsiteX4" fmla="*/ 0 w 7703820"/>
              <a:gd name="connsiteY4" fmla="*/ 0 h 6849671"/>
              <a:gd name="connsiteX0" fmla="*/ 914400 w 7703820"/>
              <a:gd name="connsiteY0" fmla="*/ 0 h 7662688"/>
              <a:gd name="connsiteX1" fmla="*/ 7703820 w 7703820"/>
              <a:gd name="connsiteY1" fmla="*/ 813017 h 7662688"/>
              <a:gd name="connsiteX2" fmla="*/ 7703820 w 7703820"/>
              <a:gd name="connsiteY2" fmla="*/ 7662688 h 7662688"/>
              <a:gd name="connsiteX3" fmla="*/ 0 w 7703820"/>
              <a:gd name="connsiteY3" fmla="*/ 7662688 h 7662688"/>
              <a:gd name="connsiteX4" fmla="*/ 914400 w 7703820"/>
              <a:gd name="connsiteY4" fmla="*/ 0 h 7662688"/>
              <a:gd name="connsiteX0" fmla="*/ 960120 w 7703820"/>
              <a:gd name="connsiteY0" fmla="*/ 0 h 6900688"/>
              <a:gd name="connsiteX1" fmla="*/ 7703820 w 7703820"/>
              <a:gd name="connsiteY1" fmla="*/ 51017 h 6900688"/>
              <a:gd name="connsiteX2" fmla="*/ 7703820 w 7703820"/>
              <a:gd name="connsiteY2" fmla="*/ 6900688 h 6900688"/>
              <a:gd name="connsiteX3" fmla="*/ 0 w 7703820"/>
              <a:gd name="connsiteY3" fmla="*/ 6900688 h 6900688"/>
              <a:gd name="connsiteX4" fmla="*/ 960120 w 7703820"/>
              <a:gd name="connsiteY4" fmla="*/ 0 h 6900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03820" h="6900688">
                <a:moveTo>
                  <a:pt x="960120" y="0"/>
                </a:moveTo>
                <a:lnTo>
                  <a:pt x="7703820" y="51017"/>
                </a:lnTo>
                <a:lnTo>
                  <a:pt x="7703820" y="6900688"/>
                </a:lnTo>
                <a:lnTo>
                  <a:pt x="0" y="6900688"/>
                </a:lnTo>
                <a:lnTo>
                  <a:pt x="960120" y="0"/>
                </a:lnTo>
                <a:close/>
              </a:path>
            </a:pathLst>
          </a:custGeom>
          <a:solidFill>
            <a:schemeClr val="bg1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等腰三角形 9"/>
          <p:cNvSpPr/>
          <p:nvPr userDrawn="1"/>
        </p:nvSpPr>
        <p:spPr>
          <a:xfrm>
            <a:off x="0" y="0"/>
            <a:ext cx="12192000" cy="6858000"/>
          </a:xfrm>
          <a:prstGeom prst="triangle">
            <a:avLst>
              <a:gd name="adj" fmla="val 0"/>
            </a:avLst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平行四边形 10"/>
          <p:cNvSpPr/>
          <p:nvPr userDrawn="1"/>
        </p:nvSpPr>
        <p:spPr>
          <a:xfrm rot="20778963">
            <a:off x="-646973" y="1540499"/>
            <a:ext cx="13477001" cy="3777009"/>
          </a:xfrm>
          <a:prstGeom prst="parallelogram">
            <a:avLst/>
          </a:prstGeom>
          <a:solidFill>
            <a:schemeClr val="accent3">
              <a:lumMod val="75000"/>
              <a:alpha val="8313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流程图: 手动输入 12"/>
          <p:cNvSpPr/>
          <p:nvPr userDrawn="1"/>
        </p:nvSpPr>
        <p:spPr>
          <a:xfrm rot="5400000" flipH="1">
            <a:off x="-361951" y="1047753"/>
            <a:ext cx="6858000" cy="4762500"/>
          </a:xfrm>
          <a:prstGeom prst="flowChartManualInput">
            <a:avLst/>
          </a:prstGeom>
          <a:solidFill>
            <a:schemeClr val="accent3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流程图: 手动输入 13"/>
          <p:cNvSpPr/>
          <p:nvPr userDrawn="1"/>
        </p:nvSpPr>
        <p:spPr>
          <a:xfrm rot="5400000" flipH="1">
            <a:off x="-1047751" y="1047753"/>
            <a:ext cx="6858000" cy="4762500"/>
          </a:xfrm>
          <a:prstGeom prst="flowChartManualInpu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流程图: 手动输入 14"/>
          <p:cNvSpPr/>
          <p:nvPr userDrawn="1"/>
        </p:nvSpPr>
        <p:spPr>
          <a:xfrm rot="5400000" flipH="1">
            <a:off x="-1186187" y="1186186"/>
            <a:ext cx="6858000" cy="4485628"/>
          </a:xfrm>
          <a:prstGeom prst="flowChartManualInpu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標題 4"/>
          <p:cNvSpPr>
            <a:spLocks noGrp="1"/>
          </p:cNvSpPr>
          <p:nvPr>
            <p:ph type="title"/>
          </p:nvPr>
        </p:nvSpPr>
        <p:spPr>
          <a:xfrm>
            <a:off x="153814" y="495658"/>
            <a:ext cx="3939621" cy="2025351"/>
          </a:xfrm>
        </p:spPr>
        <p:txBody>
          <a:bodyPr anchor="b"/>
          <a:lstStyle>
            <a:lvl1pPr>
              <a:defRPr b="1">
                <a:solidFill>
                  <a:schemeClr val="accent5">
                    <a:lumMod val="10000"/>
                  </a:schemeClr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9" name="副标题 2"/>
          <p:cNvSpPr>
            <a:spLocks noGrp="1"/>
          </p:cNvSpPr>
          <p:nvPr>
            <p:ph type="subTitle" idx="1"/>
          </p:nvPr>
        </p:nvSpPr>
        <p:spPr>
          <a:xfrm>
            <a:off x="153815" y="2593628"/>
            <a:ext cx="3452510" cy="756317"/>
          </a:xfrm>
        </p:spPr>
        <p:txBody>
          <a:bodyPr>
            <a:noAutofit/>
          </a:bodyPr>
          <a:lstStyle>
            <a:lvl1pPr marL="0" indent="0" algn="l">
              <a:buNone/>
              <a:defRPr sz="3200" b="1">
                <a:solidFill>
                  <a:schemeClr val="accent5">
                    <a:lumMod val="10000"/>
                  </a:schemeClr>
                </a:solidFill>
                <a:latin typeface="+mj-ea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dirty="0"/>
              <a:t>按一下以編輯母片副標題樣式</a:t>
            </a:r>
            <a:endParaRPr lang="zh-CN" altLang="en-US" dirty="0"/>
          </a:p>
        </p:txBody>
      </p:sp>
      <p:cxnSp>
        <p:nvCxnSpPr>
          <p:cNvPr id="17" name="直線接點 16"/>
          <p:cNvCxnSpPr/>
          <p:nvPr userDrawn="1"/>
        </p:nvCxnSpPr>
        <p:spPr>
          <a:xfrm>
            <a:off x="153824" y="2512462"/>
            <a:ext cx="3896883" cy="0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字版面配置區 18"/>
          <p:cNvSpPr>
            <a:spLocks noGrp="1"/>
          </p:cNvSpPr>
          <p:nvPr>
            <p:ph type="body" sz="quarter" idx="10"/>
          </p:nvPr>
        </p:nvSpPr>
        <p:spPr>
          <a:xfrm>
            <a:off x="255589" y="3627373"/>
            <a:ext cx="3154184" cy="2919478"/>
          </a:xfrm>
        </p:spPr>
        <p:txBody>
          <a:bodyPr/>
          <a:lstStyle>
            <a:lvl1pPr>
              <a:defRPr>
                <a:solidFill>
                  <a:schemeClr val="accent3"/>
                </a:solidFill>
                <a:latin typeface="+mj-ea"/>
                <a:ea typeface="+mj-ea"/>
              </a:defRPr>
            </a:lvl1pPr>
            <a:lvl2pPr>
              <a:defRPr>
                <a:solidFill>
                  <a:schemeClr val="accent3"/>
                </a:solidFill>
                <a:latin typeface="+mj-ea"/>
                <a:ea typeface="+mj-ea"/>
              </a:defRPr>
            </a:lvl2pPr>
            <a:lvl3pPr>
              <a:defRPr>
                <a:solidFill>
                  <a:schemeClr val="accent3"/>
                </a:solidFill>
                <a:latin typeface="+mj-ea"/>
                <a:ea typeface="+mj-ea"/>
              </a:defRPr>
            </a:lvl3pPr>
            <a:lvl4pPr>
              <a:defRPr>
                <a:solidFill>
                  <a:schemeClr val="accent3"/>
                </a:solidFill>
                <a:latin typeface="+mj-ea"/>
                <a:ea typeface="+mj-ea"/>
              </a:defRPr>
            </a:lvl4pPr>
            <a:lvl5pPr>
              <a:defRPr>
                <a:solidFill>
                  <a:schemeClr val="accent3"/>
                </a:solidFill>
                <a:latin typeface="+mj-ea"/>
                <a:ea typeface="+mj-ea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20" name="文字版面配置區 18"/>
          <p:cNvSpPr>
            <a:spLocks noGrp="1"/>
          </p:cNvSpPr>
          <p:nvPr>
            <p:ph type="body" sz="quarter" idx="11"/>
          </p:nvPr>
        </p:nvSpPr>
        <p:spPr>
          <a:xfrm>
            <a:off x="5629469" y="495657"/>
            <a:ext cx="6138089" cy="6195699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accent5"/>
                </a:solidFill>
              </a:defRPr>
            </a:lvl1pPr>
            <a:lvl2pPr>
              <a:defRPr sz="2800">
                <a:solidFill>
                  <a:schemeClr val="accent5"/>
                </a:solidFill>
              </a:defRPr>
            </a:lvl2pPr>
            <a:lvl3pPr>
              <a:defRPr sz="2400">
                <a:solidFill>
                  <a:schemeClr val="accent5"/>
                </a:solidFill>
              </a:defRPr>
            </a:lvl3pPr>
            <a:lvl4pPr>
              <a:defRPr sz="2000">
                <a:solidFill>
                  <a:schemeClr val="accent5"/>
                </a:solidFill>
              </a:defRPr>
            </a:lvl4pPr>
            <a:lvl5pPr>
              <a:defRPr sz="2000">
                <a:solidFill>
                  <a:schemeClr val="accent5"/>
                </a:solidFill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18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11194991" y="6484546"/>
            <a:ext cx="842482" cy="365125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fld id="{A99B09EC-0F5A-4ED1-9D27-B6EB06E679C1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pic>
        <p:nvPicPr>
          <p:cNvPr id="22" name="圖片 2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005" y="128912"/>
            <a:ext cx="989925" cy="888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680109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-5"/>
            <a:ext cx="12192000" cy="6849676"/>
          </a:xfrm>
          <a:prstGeom prst="rect">
            <a:avLst/>
          </a:prstGeom>
          <a:solidFill>
            <a:schemeClr val="bg1">
              <a:lumMod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等腰三角形 5"/>
          <p:cNvSpPr/>
          <p:nvPr userDrawn="1"/>
        </p:nvSpPr>
        <p:spPr>
          <a:xfrm>
            <a:off x="0" y="0"/>
            <a:ext cx="12192000" cy="6858000"/>
          </a:xfrm>
          <a:prstGeom prst="triangle">
            <a:avLst>
              <a:gd name="adj" fmla="val 0"/>
            </a:avLst>
          </a:prstGeom>
          <a:solidFill>
            <a:schemeClr val="bg1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平行四边形 6"/>
          <p:cNvSpPr/>
          <p:nvPr userDrawn="1"/>
        </p:nvSpPr>
        <p:spPr>
          <a:xfrm rot="20778963">
            <a:off x="-646973" y="1540499"/>
            <a:ext cx="13477001" cy="3777009"/>
          </a:xfrm>
          <a:prstGeom prst="parallelogram">
            <a:avLst/>
          </a:prstGeom>
          <a:solidFill>
            <a:schemeClr val="accent3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平行四边形 8"/>
          <p:cNvSpPr/>
          <p:nvPr userDrawn="1"/>
        </p:nvSpPr>
        <p:spPr>
          <a:xfrm>
            <a:off x="9741261" y="861129"/>
            <a:ext cx="5659417" cy="5996871"/>
          </a:xfrm>
          <a:prstGeom prst="parallelogram">
            <a:avLst>
              <a:gd name="adj" fmla="val 43596"/>
            </a:avLst>
          </a:prstGeom>
          <a:solidFill>
            <a:schemeClr val="bg1">
              <a:lumMod val="1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2"/>
              </a:solidFill>
            </a:endParaRPr>
          </a:p>
        </p:txBody>
      </p:sp>
      <p:sp>
        <p:nvSpPr>
          <p:cNvPr id="8" name="等腰三角形 7"/>
          <p:cNvSpPr/>
          <p:nvPr userDrawn="1"/>
        </p:nvSpPr>
        <p:spPr>
          <a:xfrm rot="11945907">
            <a:off x="914586" y="-1318220"/>
            <a:ext cx="6195870" cy="9628940"/>
          </a:xfrm>
          <a:prstGeom prst="triangle">
            <a:avLst>
              <a:gd name="adj" fmla="val 96905"/>
            </a:avLst>
          </a:prstGeom>
          <a:solidFill>
            <a:schemeClr val="accent5">
              <a:lumMod val="1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字版面配置區 10"/>
          <p:cNvSpPr>
            <a:spLocks noGrp="1"/>
          </p:cNvSpPr>
          <p:nvPr>
            <p:ph type="body" sz="quarter" idx="10"/>
          </p:nvPr>
        </p:nvSpPr>
        <p:spPr>
          <a:xfrm>
            <a:off x="3144852" y="1084925"/>
            <a:ext cx="7657032" cy="551242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2" name="標題 4"/>
          <p:cNvSpPr>
            <a:spLocks noGrp="1"/>
          </p:cNvSpPr>
          <p:nvPr>
            <p:ph type="title"/>
          </p:nvPr>
        </p:nvSpPr>
        <p:spPr>
          <a:xfrm>
            <a:off x="162360" y="68368"/>
            <a:ext cx="2879943" cy="2050989"/>
          </a:xfrm>
        </p:spPr>
        <p:txBody>
          <a:bodyPr anchor="t"/>
          <a:lstStyle>
            <a:lvl1pPr>
              <a:defRPr b="1">
                <a:solidFill>
                  <a:schemeClr val="bg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13" name="副标题 2"/>
          <p:cNvSpPr>
            <a:spLocks noGrp="1"/>
          </p:cNvSpPr>
          <p:nvPr>
            <p:ph type="subTitle" idx="1"/>
          </p:nvPr>
        </p:nvSpPr>
        <p:spPr>
          <a:xfrm>
            <a:off x="3435407" y="328990"/>
            <a:ext cx="7637092" cy="756317"/>
          </a:xfrm>
        </p:spPr>
        <p:txBody>
          <a:bodyPr>
            <a:normAutofit/>
          </a:bodyPr>
          <a:lstStyle>
            <a:lvl1pPr marL="0" indent="0" algn="l">
              <a:buNone/>
              <a:defRPr sz="3600" b="1">
                <a:solidFill>
                  <a:schemeClr val="bg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dirty="0"/>
              <a:t>按一下以編輯母片副標題樣式</a:t>
            </a:r>
            <a:endParaRPr lang="zh-CN" altLang="en-US" dirty="0"/>
          </a:p>
        </p:txBody>
      </p:sp>
      <p:sp>
        <p:nvSpPr>
          <p:cNvPr id="14" name="投影片編號版面配置區 5"/>
          <p:cNvSpPr>
            <a:spLocks noGrp="1"/>
          </p:cNvSpPr>
          <p:nvPr>
            <p:ph type="sldNum" sz="quarter" idx="11"/>
          </p:nvPr>
        </p:nvSpPr>
        <p:spPr>
          <a:xfrm>
            <a:off x="11194991" y="6484546"/>
            <a:ext cx="842482" cy="365125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fld id="{A99B09EC-0F5A-4ED1-9D27-B6EB06E679C1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pic>
        <p:nvPicPr>
          <p:cNvPr id="16" name="圖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600" y="5708869"/>
            <a:ext cx="989925" cy="888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635645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9B09EC-0F5A-4ED1-9D27-B6EB06E679C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6781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70" r:id="rId2"/>
    <p:sldLayoutId id="2147483671" r:id="rId3"/>
    <p:sldLayoutId id="2147483667" r:id="rId4"/>
    <p:sldLayoutId id="2147483668" r:id="rId5"/>
    <p:sldLayoutId id="2147483663" r:id="rId6"/>
    <p:sldLayoutId id="2147483669" r:id="rId7"/>
    <p:sldLayoutId id="2147483665" r:id="rId8"/>
    <p:sldLayoutId id="2147483666" r:id="rId9"/>
  </p:sldLayoutIdLst>
  <p:transition spd="med"/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>
              <a:lumMod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>
              <a:lumMod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>
              <a:lumMod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>
              <a:lumMod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9B09EC-0F5A-4ED1-9D27-B6EB06E679C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E5F3EB">
                    <a:lumMod val="50000"/>
                  </a:srgbClr>
                </a:solidFill>
                <a:effectLst/>
                <a:uLnTx/>
                <a:uFillTx/>
                <a:latin typeface="Microsoft YaHei Light"/>
                <a:ea typeface="Microsoft YaHei Ligh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E5F3EB">
                  <a:lumMod val="50000"/>
                </a:srgbClr>
              </a:solidFill>
              <a:effectLst/>
              <a:uLnTx/>
              <a:uFillTx/>
              <a:latin typeface="Microsoft YaHei Light"/>
              <a:ea typeface="Microsoft YaHei Light"/>
              <a:cs typeface="+mn-cs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6294766"/>
              </p:ext>
            </p:extLst>
          </p:nvPr>
        </p:nvGraphicFramePr>
        <p:xfrm>
          <a:off x="330506" y="1082977"/>
          <a:ext cx="11545677" cy="5486297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715512">
                  <a:extLst>
                    <a:ext uri="{9D8B030D-6E8A-4147-A177-3AD203B41FA5}">
                      <a16:colId xmlns:a16="http://schemas.microsoft.com/office/drawing/2014/main" val="2601946874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230335172"/>
                    </a:ext>
                  </a:extLst>
                </a:gridCol>
                <a:gridCol w="3643746">
                  <a:extLst>
                    <a:ext uri="{9D8B030D-6E8A-4147-A177-3AD203B41FA5}">
                      <a16:colId xmlns:a16="http://schemas.microsoft.com/office/drawing/2014/main" val="2760337059"/>
                    </a:ext>
                  </a:extLst>
                </a:gridCol>
                <a:gridCol w="3528819">
                  <a:extLst>
                    <a:ext uri="{9D8B030D-6E8A-4147-A177-3AD203B41FA5}">
                      <a16:colId xmlns:a16="http://schemas.microsoft.com/office/drawing/2014/main" val="101268759"/>
                    </a:ext>
                  </a:extLst>
                </a:gridCol>
              </a:tblGrid>
              <a:tr h="427049">
                <a:tc gridSpan="4">
                  <a:txBody>
                    <a:bodyPr/>
                    <a:lstStyle/>
                    <a:p>
                      <a:r>
                        <a:rPr kumimoji="0" lang="zh-TW" altLang="zh-TW" sz="20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目標：</a:t>
                      </a:r>
                      <a:r>
                        <a:rPr kumimoji="0" lang="zh-TW" altLang="en-US" sz="20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節省</a:t>
                      </a:r>
                      <a:r>
                        <a:rPr kumimoji="0" lang="en-US" altLang="zh-TW" sz="20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OEM</a:t>
                      </a:r>
                      <a:r>
                        <a:rPr kumimoji="0" lang="zh-TW" altLang="en-US" sz="20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、</a:t>
                      </a:r>
                      <a:r>
                        <a:rPr kumimoji="0" lang="en-US" altLang="zh-TW" sz="20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ODM</a:t>
                      </a:r>
                      <a:r>
                        <a:rPr kumimoji="0" lang="zh-TW" altLang="en-US" sz="20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、新事業、電商等企畫案資料與編輯工時</a:t>
                      </a:r>
                      <a:endParaRPr lang="en-US" altLang="zh-TW" sz="2000" b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="0" dirty="0">
                        <a:solidFill>
                          <a:srgbClr val="7030A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altLang="zh-TW" sz="2000" b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altLang="zh-TW" sz="2000" b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0516916"/>
                  </a:ext>
                </a:extLst>
              </a:tr>
              <a:tr h="791528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項目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【</a:t>
                      </a:r>
                      <a:r>
                        <a:rPr lang="zh-TW" altLang="en-US" sz="18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開案客需表</a:t>
                      </a:r>
                      <a:r>
                        <a:rPr lang="en-US" altLang="zh-TW" sz="18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】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從客戶的</a:t>
                      </a:r>
                      <a:r>
                        <a:rPr lang="en-US" altLang="zh-TW" sz="1800" b="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mail</a:t>
                      </a:r>
                      <a:r>
                        <a:rPr lang="zh-TW" altLang="en-US" sz="1800" b="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和會議紀錄，整理出客戶想法、規格需求、布局思維、客戶態度、買價、數量。</a:t>
                      </a:r>
                      <a:endParaRPr lang="en-US" altLang="zh-TW" sz="1800" b="0" dirty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【</a:t>
                      </a:r>
                      <a:r>
                        <a:rPr lang="zh-TW" altLang="en-US" sz="18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企劃案簡介</a:t>
                      </a:r>
                      <a:r>
                        <a:rPr lang="en-US" altLang="zh-TW" sz="18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】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根據客需表分別撰寫 市場背景、客戶背景、對公司的影響、營收額。</a:t>
                      </a:r>
                      <a:endParaRPr lang="en-US" altLang="zh-TW" sz="1800" b="0" dirty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【</a:t>
                      </a:r>
                      <a:r>
                        <a:rPr lang="zh-TW" altLang="en-US" sz="18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市場競品比較</a:t>
                      </a:r>
                      <a:r>
                        <a:rPr lang="en-US" altLang="zh-TW" sz="18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】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研究市場相對規格。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0613277"/>
                  </a:ext>
                </a:extLst>
              </a:tr>
              <a:tr h="110664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當前挑戰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由銷售回憶會議與</a:t>
                      </a:r>
                      <a:r>
                        <a:rPr lang="en-US" altLang="zh-TW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mail</a:t>
                      </a:r>
                      <a:r>
                        <a:rPr lang="zh-TW" altLang="en-US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後，起草撰寫內容。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由銷售提供背景在臆測出影響性。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近期已利用</a:t>
                      </a:r>
                      <a:r>
                        <a:rPr lang="en-US" altLang="zh-TW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AI</a:t>
                      </a:r>
                      <a:r>
                        <a:rPr lang="zh-TW" altLang="en-US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蒐集規格，但還是靠人工審核與回填表單。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7423795"/>
                  </a:ext>
                </a:extLst>
              </a:tr>
              <a:tr h="146479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預期效益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內部</a:t>
                      </a:r>
                      <a:r>
                        <a:rPr lang="en-US" altLang="zh-TW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AI</a:t>
                      </a:r>
                      <a:r>
                        <a:rPr lang="zh-TW" altLang="en-US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協助：將客戶資料進行數據整理。</a:t>
                      </a:r>
                    </a:p>
                    <a:p>
                      <a:endParaRPr lang="en-US" altLang="zh-TW" sz="1800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r>
                        <a:rPr lang="zh-TW" altLang="en-US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程式：撰寫資料呈現表格、並建立資料庫。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外部</a:t>
                      </a:r>
                      <a:r>
                        <a:rPr lang="en-US" altLang="zh-TW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AI</a:t>
                      </a:r>
                      <a:r>
                        <a:rPr lang="zh-TW" altLang="en-US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：搜尋市場資料、企業資料</a:t>
                      </a:r>
                      <a:r>
                        <a:rPr lang="en-US" altLang="zh-TW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+</a:t>
                      </a:r>
                      <a:r>
                        <a:rPr lang="zh-TW" altLang="en-US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結合公司策略</a:t>
                      </a:r>
                      <a:r>
                        <a:rPr lang="en-US" altLang="zh-TW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+</a:t>
                      </a:r>
                      <a:r>
                        <a:rPr lang="zh-TW" altLang="en-US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營收額，並撰寫資料。</a:t>
                      </a:r>
                    </a:p>
                    <a:p>
                      <a:endParaRPr lang="en-US" altLang="zh-TW" sz="1800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r>
                        <a:rPr lang="zh-TW" altLang="en-US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程式：撰寫資料呈現表格。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外部</a:t>
                      </a:r>
                      <a:r>
                        <a:rPr lang="en-US" altLang="zh-TW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AI</a:t>
                      </a:r>
                      <a:r>
                        <a:rPr lang="zh-TW" altLang="en-US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：搜尋市場產品規格資料、研究產品差異與特色。</a:t>
                      </a:r>
                    </a:p>
                    <a:p>
                      <a:endParaRPr lang="en-US" altLang="zh-TW" sz="1800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r>
                        <a:rPr lang="zh-TW" altLang="en-US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程式：撰寫資料呈現表格、並建立資料庫。</a:t>
                      </a:r>
                      <a:endParaRPr lang="en-US" altLang="zh-TW" sz="1800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7157514"/>
                  </a:ext>
                </a:extLst>
              </a:tr>
              <a:tr h="129908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效率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N/A</a:t>
                      </a:r>
                      <a:endParaRPr lang="zh-TW" altLang="en-US" sz="1800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OEM: 50%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ODM: 75%</a:t>
                      </a:r>
                      <a:endParaRPr lang="zh-TW" altLang="en-US" sz="1800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目前</a:t>
                      </a:r>
                      <a:r>
                        <a:rPr lang="en-US" altLang="zh-TW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:50%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程式</a:t>
                      </a:r>
                      <a:r>
                        <a:rPr lang="en-US" altLang="zh-TW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:75%</a:t>
                      </a:r>
                      <a:endParaRPr lang="zh-TW" altLang="en-US" sz="1800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1529891"/>
                  </a:ext>
                </a:extLst>
              </a:tr>
            </a:tbl>
          </a:graphicData>
        </a:graphic>
      </p:graphicFrame>
      <p:sp>
        <p:nvSpPr>
          <p:cNvPr id="12" name="標題 11"/>
          <p:cNvSpPr>
            <a:spLocks noGrp="1"/>
          </p:cNvSpPr>
          <p:nvPr>
            <p:ph type="title" idx="4294967295"/>
          </p:nvPr>
        </p:nvSpPr>
        <p:spPr>
          <a:xfrm>
            <a:off x="1376854" y="291560"/>
            <a:ext cx="9662047" cy="706926"/>
          </a:xfrm>
        </p:spPr>
        <p:txBody>
          <a:bodyPr>
            <a:normAutofit/>
          </a:bodyPr>
          <a:lstStyle/>
          <a:p>
            <a:r>
              <a:rPr lang="zh-TW" altLang="en-US" sz="3500" b="1" dirty="0">
                <a:solidFill>
                  <a:schemeClr val="accent6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行銷 </a:t>
            </a:r>
            <a:r>
              <a:rPr lang="en-US" altLang="zh-TW" sz="3500" b="1" dirty="0">
                <a:solidFill>
                  <a:schemeClr val="accent6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AI</a:t>
            </a:r>
            <a:r>
              <a:rPr lang="zh-TW" altLang="en-US" sz="3500" b="1" dirty="0">
                <a:solidFill>
                  <a:schemeClr val="accent6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導入計劃</a:t>
            </a:r>
            <a:r>
              <a:rPr lang="en-US" altLang="zh-TW" sz="3500" b="1" dirty="0">
                <a:solidFill>
                  <a:schemeClr val="accent6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-1/5</a:t>
            </a:r>
            <a:endParaRPr lang="zh-TW" altLang="en-US" sz="3500" b="1" dirty="0">
              <a:solidFill>
                <a:schemeClr val="accent6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76970588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9B09EC-0F5A-4ED1-9D27-B6EB06E679C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E5F3EB">
                    <a:lumMod val="50000"/>
                  </a:srgbClr>
                </a:solidFill>
                <a:effectLst/>
                <a:uLnTx/>
                <a:uFillTx/>
                <a:latin typeface="Microsoft YaHei Light"/>
                <a:ea typeface="Microsoft YaHei Ligh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E5F3EB">
                  <a:lumMod val="50000"/>
                </a:srgbClr>
              </a:solidFill>
              <a:effectLst/>
              <a:uLnTx/>
              <a:uFillTx/>
              <a:latin typeface="Microsoft YaHei Light"/>
              <a:ea typeface="Microsoft YaHei Light"/>
              <a:cs typeface="+mn-cs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9848342"/>
              </p:ext>
            </p:extLst>
          </p:nvPr>
        </p:nvGraphicFramePr>
        <p:xfrm>
          <a:off x="330506" y="1082978"/>
          <a:ext cx="11545677" cy="5478159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715512">
                  <a:extLst>
                    <a:ext uri="{9D8B030D-6E8A-4147-A177-3AD203B41FA5}">
                      <a16:colId xmlns:a16="http://schemas.microsoft.com/office/drawing/2014/main" val="2601946874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230335172"/>
                    </a:ext>
                  </a:extLst>
                </a:gridCol>
                <a:gridCol w="3643746">
                  <a:extLst>
                    <a:ext uri="{9D8B030D-6E8A-4147-A177-3AD203B41FA5}">
                      <a16:colId xmlns:a16="http://schemas.microsoft.com/office/drawing/2014/main" val="2760337059"/>
                    </a:ext>
                  </a:extLst>
                </a:gridCol>
                <a:gridCol w="3528819">
                  <a:extLst>
                    <a:ext uri="{9D8B030D-6E8A-4147-A177-3AD203B41FA5}">
                      <a16:colId xmlns:a16="http://schemas.microsoft.com/office/drawing/2014/main" val="101268759"/>
                    </a:ext>
                  </a:extLst>
                </a:gridCol>
              </a:tblGrid>
              <a:tr h="399490">
                <a:tc gridSpan="4">
                  <a:txBody>
                    <a:bodyPr/>
                    <a:lstStyle/>
                    <a:p>
                      <a:r>
                        <a:rPr kumimoji="0" lang="zh-TW" altLang="zh-TW" sz="20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目標：</a:t>
                      </a:r>
                      <a:r>
                        <a:rPr kumimoji="0" lang="zh-TW" altLang="en-US" sz="20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節省</a:t>
                      </a:r>
                      <a:r>
                        <a:rPr kumimoji="0" lang="en-US" altLang="zh-TW" sz="20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OEM</a:t>
                      </a:r>
                      <a:r>
                        <a:rPr kumimoji="0" lang="zh-TW" altLang="en-US" sz="20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、</a:t>
                      </a:r>
                      <a:r>
                        <a:rPr kumimoji="0" lang="en-US" altLang="zh-TW" sz="20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ODM</a:t>
                      </a:r>
                      <a:r>
                        <a:rPr kumimoji="0" lang="zh-TW" altLang="en-US" sz="20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、新事業、電商等企畫案資料與編輯工時</a:t>
                      </a:r>
                      <a:endParaRPr lang="en-US" altLang="zh-TW" sz="2000" b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="0" dirty="0">
                        <a:solidFill>
                          <a:srgbClr val="7030A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altLang="zh-TW" sz="2000" b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altLang="zh-TW" sz="2000" b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0516916"/>
                  </a:ext>
                </a:extLst>
              </a:tr>
              <a:tr h="1025596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項目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【</a:t>
                      </a:r>
                      <a:r>
                        <a:rPr lang="zh-TW" altLang="en-US" sz="18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成本評估</a:t>
                      </a:r>
                      <a:r>
                        <a:rPr lang="en-US" altLang="zh-TW" sz="18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】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由生計、資材依據圖面或是競品進行成本、設備投資估算。</a:t>
                      </a:r>
                      <a:endParaRPr lang="en-US" altLang="zh-TW" sz="1800" b="0" dirty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【</a:t>
                      </a:r>
                      <a:r>
                        <a:rPr lang="zh-TW" altLang="en-US" sz="18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效益分析</a:t>
                      </a:r>
                      <a:r>
                        <a:rPr lang="en-US" altLang="zh-TW" sz="18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】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由成本、設備成本、買價計算效益。</a:t>
                      </a:r>
                      <a:endParaRPr lang="en-US" altLang="zh-TW" sz="1800" b="0" dirty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【</a:t>
                      </a:r>
                      <a:r>
                        <a:rPr lang="zh-TW" altLang="en-US" sz="18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風險評估</a:t>
                      </a:r>
                      <a:r>
                        <a:rPr lang="en-US" altLang="zh-TW" sz="18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】</a:t>
                      </a:r>
                      <a:r>
                        <a:rPr lang="zh-TW" altLang="en-US" sz="1800" b="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800" b="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800" b="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舊綜合評價表</a:t>
                      </a:r>
                      <a:r>
                        <a:rPr lang="en-US" altLang="zh-TW" sz="1800" b="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評估效益、市場背景、對公司的影響的總表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0613277"/>
                  </a:ext>
                </a:extLst>
              </a:tr>
              <a:tr h="1109588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當前挑戰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全賴成本中心老師傅的經驗</a:t>
                      </a:r>
                      <a:r>
                        <a:rPr lang="en-US" altLang="zh-TW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+2</a:t>
                      </a:r>
                      <a:r>
                        <a:rPr lang="zh-TW" altLang="en-US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周工時。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excel</a:t>
                      </a:r>
                      <a:r>
                        <a:rPr lang="zh-TW" altLang="en-US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公式套入，尚有優化的空間。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各單位填寫效果不佳，已不具備參考性。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7423795"/>
                  </a:ext>
                </a:extLst>
              </a:tr>
              <a:tr h="164095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預期效益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外部</a:t>
                      </a:r>
                      <a:r>
                        <a:rPr lang="en-US" altLang="zh-TW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AI</a:t>
                      </a:r>
                      <a:r>
                        <a:rPr lang="zh-TW" altLang="en-US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協助：成本中心編訂成本計算手法指南，訓練</a:t>
                      </a:r>
                      <a:r>
                        <a:rPr lang="en-US" altLang="zh-TW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AI</a:t>
                      </a:r>
                      <a:r>
                        <a:rPr lang="zh-TW" altLang="en-US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模型進行學習。</a:t>
                      </a:r>
                    </a:p>
                    <a:p>
                      <a:endParaRPr lang="en-US" altLang="zh-TW" sz="1800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r>
                        <a:rPr lang="zh-TW" altLang="en-US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程式：需要成本中心導入表單資料庫系統 類似</a:t>
                      </a:r>
                      <a:r>
                        <a:rPr lang="en-US" altLang="zh-TW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TIPTOP</a:t>
                      </a:r>
                      <a:r>
                        <a:rPr lang="zh-TW" altLang="en-US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系統。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程式：接收成本資料後撰寫資料呈現表格。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內部</a:t>
                      </a:r>
                      <a:r>
                        <a:rPr lang="en-US" altLang="zh-TW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AI</a:t>
                      </a:r>
                      <a:r>
                        <a:rPr lang="zh-TW" altLang="en-US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：根據整份企劃案與企業策略協助風險評估策略編寫。</a:t>
                      </a:r>
                    </a:p>
                    <a:p>
                      <a:endParaRPr lang="en-US" altLang="zh-TW" sz="1800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r>
                        <a:rPr lang="zh-TW" altLang="en-US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程式：撰寫資料呈現表格。</a:t>
                      </a:r>
                      <a:endParaRPr lang="en-US" altLang="zh-TW" sz="1800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7157514"/>
                  </a:ext>
                </a:extLst>
              </a:tr>
              <a:tr h="130253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效率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N/A</a:t>
                      </a:r>
                      <a:endParaRPr lang="zh-TW" altLang="en-US" sz="1800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程式</a:t>
                      </a:r>
                      <a:r>
                        <a:rPr lang="en-US" altLang="zh-TW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: 25%</a:t>
                      </a:r>
                      <a:endParaRPr lang="zh-TW" altLang="en-US" sz="1800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N/A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1058601"/>
                  </a:ext>
                </a:extLst>
              </a:tr>
            </a:tbl>
          </a:graphicData>
        </a:graphic>
      </p:graphicFrame>
      <p:sp>
        <p:nvSpPr>
          <p:cNvPr id="12" name="標題 11"/>
          <p:cNvSpPr>
            <a:spLocks noGrp="1"/>
          </p:cNvSpPr>
          <p:nvPr>
            <p:ph type="title" idx="4294967295"/>
          </p:nvPr>
        </p:nvSpPr>
        <p:spPr>
          <a:xfrm>
            <a:off x="1376854" y="291560"/>
            <a:ext cx="9662047" cy="706926"/>
          </a:xfrm>
        </p:spPr>
        <p:txBody>
          <a:bodyPr>
            <a:normAutofit/>
          </a:bodyPr>
          <a:lstStyle/>
          <a:p>
            <a:r>
              <a:rPr lang="zh-TW" altLang="en-US" sz="3500" b="1" dirty="0">
                <a:solidFill>
                  <a:schemeClr val="accent6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行銷 </a:t>
            </a:r>
            <a:r>
              <a:rPr lang="en-US" altLang="zh-TW" sz="3500" b="1" dirty="0">
                <a:solidFill>
                  <a:schemeClr val="accent6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AI</a:t>
            </a:r>
            <a:r>
              <a:rPr lang="zh-TW" altLang="en-US" sz="3500" b="1" dirty="0">
                <a:solidFill>
                  <a:schemeClr val="accent6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導入計劃</a:t>
            </a:r>
            <a:r>
              <a:rPr lang="en-US" altLang="zh-TW" sz="3500" b="1" dirty="0">
                <a:solidFill>
                  <a:schemeClr val="accent6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-2/5</a:t>
            </a:r>
            <a:endParaRPr lang="zh-TW" altLang="en-US" sz="3500" b="1" dirty="0">
              <a:solidFill>
                <a:schemeClr val="accent6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62916394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9B09EC-0F5A-4ED1-9D27-B6EB06E679C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E5F3EB">
                    <a:lumMod val="50000"/>
                  </a:srgbClr>
                </a:solidFill>
                <a:effectLst/>
                <a:uLnTx/>
                <a:uFillTx/>
                <a:latin typeface="Microsoft YaHei Light"/>
                <a:ea typeface="Microsoft YaHei Ligh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E5F3EB">
                  <a:lumMod val="50000"/>
                </a:srgbClr>
              </a:solidFill>
              <a:effectLst/>
              <a:uLnTx/>
              <a:uFillTx/>
              <a:latin typeface="Microsoft YaHei Light"/>
              <a:ea typeface="Microsoft YaHei Light"/>
              <a:cs typeface="+mn-cs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6901327"/>
              </p:ext>
            </p:extLst>
          </p:nvPr>
        </p:nvGraphicFramePr>
        <p:xfrm>
          <a:off x="330506" y="1082976"/>
          <a:ext cx="11545677" cy="5453931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715512">
                  <a:extLst>
                    <a:ext uri="{9D8B030D-6E8A-4147-A177-3AD203B41FA5}">
                      <a16:colId xmlns:a16="http://schemas.microsoft.com/office/drawing/2014/main" val="2601946874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230335172"/>
                    </a:ext>
                  </a:extLst>
                </a:gridCol>
                <a:gridCol w="3643746">
                  <a:extLst>
                    <a:ext uri="{9D8B030D-6E8A-4147-A177-3AD203B41FA5}">
                      <a16:colId xmlns:a16="http://schemas.microsoft.com/office/drawing/2014/main" val="2760337059"/>
                    </a:ext>
                  </a:extLst>
                </a:gridCol>
                <a:gridCol w="3528819">
                  <a:extLst>
                    <a:ext uri="{9D8B030D-6E8A-4147-A177-3AD203B41FA5}">
                      <a16:colId xmlns:a16="http://schemas.microsoft.com/office/drawing/2014/main" val="101268759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kumimoji="0" lang="zh-TW" altLang="zh-TW" sz="20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目標：</a:t>
                      </a:r>
                      <a:r>
                        <a:rPr kumimoji="0" lang="zh-TW" altLang="en-US" sz="20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節省</a:t>
                      </a:r>
                      <a:r>
                        <a:rPr kumimoji="0" lang="en-US" altLang="zh-TW" sz="20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OEM</a:t>
                      </a:r>
                      <a:r>
                        <a:rPr kumimoji="0" lang="zh-TW" altLang="en-US" sz="20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、</a:t>
                      </a:r>
                      <a:r>
                        <a:rPr kumimoji="0" lang="en-US" altLang="zh-TW" sz="20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ODM</a:t>
                      </a:r>
                      <a:r>
                        <a:rPr kumimoji="0" lang="zh-TW" altLang="en-US" sz="20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、新事業、電商等企畫案資料與編輯工時</a:t>
                      </a:r>
                      <a:endParaRPr lang="en-US" altLang="zh-TW" sz="2000" b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="0" dirty="0">
                        <a:solidFill>
                          <a:srgbClr val="7030A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altLang="zh-TW" sz="2000" b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altLang="zh-TW" sz="2000" b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0516916"/>
                  </a:ext>
                </a:extLst>
              </a:tr>
              <a:tr h="968876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項目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【</a:t>
                      </a:r>
                      <a:r>
                        <a:rPr lang="zh-TW" altLang="en-US" sz="18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產品地圖分析</a:t>
                      </a:r>
                      <a:r>
                        <a:rPr lang="en-US" altLang="zh-TW" sz="18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】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分析品牌客戶產品缺口。</a:t>
                      </a:r>
                      <a:endParaRPr lang="en-US" altLang="zh-TW" sz="1800" b="0" dirty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【</a:t>
                      </a:r>
                      <a:r>
                        <a:rPr lang="zh-TW" altLang="en-US" sz="18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產品使用者分析</a:t>
                      </a:r>
                      <a:r>
                        <a:rPr lang="en-US" altLang="zh-TW" sz="18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】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分析客戶產品設計評論。</a:t>
                      </a:r>
                      <a:endParaRPr lang="en-US" altLang="zh-TW" sz="1800" b="0" dirty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【</a:t>
                      </a:r>
                      <a:r>
                        <a:rPr lang="zh-TW" altLang="en-US" sz="18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市場趨勢分析</a:t>
                      </a:r>
                      <a:r>
                        <a:rPr lang="en-US" altLang="zh-TW" sz="18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】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查詢市調報告分析市場規模，閱讀新聞資訊了解產業發展。</a:t>
                      </a:r>
                      <a:endParaRPr lang="en-US" altLang="zh-TW" sz="1800" b="0" dirty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0613277"/>
                  </a:ext>
                </a:extLst>
              </a:tr>
              <a:tr h="125953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當前挑戰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zh-TW" altLang="en-US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過去採用非典型資料表格，資料無法讀取。</a:t>
                      </a:r>
                      <a:endParaRPr lang="en-US" altLang="zh-TW" sz="1800" dirty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342900" indent="-342900">
                        <a:buAutoNum type="arabicPeriod"/>
                      </a:pPr>
                      <a:r>
                        <a:rPr lang="zh-TW" altLang="en-US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人工蒐集產品資訊工作量能有限，無法精準評估市場全貌。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zh-TW" altLang="en-US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人工蒐集耗費大量時間。</a:t>
                      </a:r>
                      <a:endParaRPr lang="en-US" altLang="zh-TW" sz="1800" dirty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342900" indent="-342900">
                        <a:buAutoNum type="arabicPeriod"/>
                      </a:pPr>
                      <a:r>
                        <a:rPr lang="zh-TW" altLang="en-US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分類不夠精準無法正確解析評論。</a:t>
                      </a:r>
                      <a:endParaRPr lang="en-US" altLang="zh-TW" sz="1800" dirty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342900" indent="-342900">
                        <a:buAutoNum type="arabicPeriod"/>
                      </a:pPr>
                      <a:endParaRPr lang="zh-TW" altLang="en-US" sz="1800" dirty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 </a:t>
                      </a:r>
                      <a:r>
                        <a:rPr lang="zh-TW" altLang="en-US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搜尋深讀不夠，且無法正確調查出個年份的變化，單純透過碎片市調報告資料獲得資訊。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7423795"/>
                  </a:ext>
                </a:extLst>
              </a:tr>
              <a:tr h="155020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預期效益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外部</a:t>
                      </a:r>
                      <a:r>
                        <a:rPr lang="en-US" altLang="zh-TW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AI</a:t>
                      </a:r>
                      <a:r>
                        <a:rPr lang="zh-TW" altLang="en-US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：分析數據圖表得出結論</a:t>
                      </a:r>
                      <a:r>
                        <a:rPr lang="zh-TW" altLang="en-US" sz="1800" b="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。</a:t>
                      </a:r>
                      <a:endParaRPr lang="zh-TW" altLang="en-US" sz="1800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endParaRPr lang="en-US" altLang="zh-TW" sz="1800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r>
                        <a:rPr lang="zh-TW" altLang="en-US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程式：爬蟲蒐集各大平台銷售資料、並進入資料庫。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外部</a:t>
                      </a:r>
                      <a:r>
                        <a:rPr lang="en-US" altLang="zh-TW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AI</a:t>
                      </a:r>
                      <a:r>
                        <a:rPr lang="zh-TW" altLang="en-US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：分析客戶痛點與比較</a:t>
                      </a:r>
                      <a:r>
                        <a:rPr lang="zh-TW" altLang="en-US" sz="1800" b="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。</a:t>
                      </a:r>
                      <a:endParaRPr lang="zh-TW" altLang="en-US" sz="1800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endParaRPr lang="en-US" altLang="zh-TW" sz="1800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r>
                        <a:rPr lang="zh-TW" altLang="en-US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程式：爬蟲蒐集各大平台評論資料、並進入資料庫。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外部</a:t>
                      </a:r>
                      <a:r>
                        <a:rPr lang="en-US" altLang="zh-TW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AI</a:t>
                      </a:r>
                      <a:r>
                        <a:rPr lang="zh-TW" altLang="en-US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：各年份蒐集各大論壇、</a:t>
                      </a:r>
                      <a:r>
                        <a:rPr lang="en-US" altLang="zh-TW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KOL</a:t>
                      </a:r>
                      <a:r>
                        <a:rPr lang="zh-TW" altLang="en-US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在專業領域的引導趨勢發展。</a:t>
                      </a:r>
                      <a:endParaRPr lang="en-US" altLang="zh-TW" sz="1800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endParaRPr lang="en-US" altLang="zh-TW" sz="1800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r>
                        <a:rPr lang="zh-TW" altLang="en-US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程式：呈現出</a:t>
                      </a:r>
                      <a:r>
                        <a:rPr lang="en-US" altLang="zh-TW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Timeline</a:t>
                      </a:r>
                      <a:r>
                        <a:rPr lang="zh-TW" altLang="en-US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及分析比較表、並進入資料庫。</a:t>
                      </a:r>
                      <a:endParaRPr lang="en-US" altLang="zh-TW" sz="1800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7157514"/>
                  </a:ext>
                </a:extLst>
              </a:tr>
              <a:tr h="1279074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效益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75%</a:t>
                      </a:r>
                      <a:endParaRPr lang="zh-TW" altLang="en-US" sz="1800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75%</a:t>
                      </a:r>
                      <a:endParaRPr lang="zh-TW" altLang="en-US" sz="1800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6031013"/>
                  </a:ext>
                </a:extLst>
              </a:tr>
            </a:tbl>
          </a:graphicData>
        </a:graphic>
      </p:graphicFrame>
      <p:sp>
        <p:nvSpPr>
          <p:cNvPr id="12" name="標題 11"/>
          <p:cNvSpPr>
            <a:spLocks noGrp="1"/>
          </p:cNvSpPr>
          <p:nvPr>
            <p:ph type="title" idx="4294967295"/>
          </p:nvPr>
        </p:nvSpPr>
        <p:spPr>
          <a:xfrm>
            <a:off x="1376854" y="291560"/>
            <a:ext cx="9662047" cy="706926"/>
          </a:xfrm>
        </p:spPr>
        <p:txBody>
          <a:bodyPr>
            <a:normAutofit/>
          </a:bodyPr>
          <a:lstStyle/>
          <a:p>
            <a:r>
              <a:rPr lang="zh-TW" altLang="en-US" sz="3500" b="1" dirty="0">
                <a:solidFill>
                  <a:schemeClr val="accent6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行銷 </a:t>
            </a:r>
            <a:r>
              <a:rPr lang="en-US" altLang="zh-TW" sz="3500" b="1" dirty="0">
                <a:solidFill>
                  <a:schemeClr val="accent6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AI</a:t>
            </a:r>
            <a:r>
              <a:rPr lang="zh-TW" altLang="en-US" sz="3500" b="1" dirty="0">
                <a:solidFill>
                  <a:schemeClr val="accent6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導入計劃</a:t>
            </a:r>
            <a:r>
              <a:rPr lang="en-US" altLang="zh-TW" sz="3500" b="1" dirty="0">
                <a:solidFill>
                  <a:schemeClr val="accent6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-3/5</a:t>
            </a:r>
            <a:endParaRPr lang="zh-TW" altLang="en-US" sz="3500" b="1" dirty="0">
              <a:solidFill>
                <a:schemeClr val="accent6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44585488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9B09EC-0F5A-4ED1-9D27-B6EB06E679C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E5F3EB">
                    <a:lumMod val="50000"/>
                  </a:srgbClr>
                </a:solidFill>
                <a:effectLst/>
                <a:uLnTx/>
                <a:uFillTx/>
                <a:latin typeface="Microsoft YaHei Light"/>
                <a:ea typeface="Microsoft YaHei Ligh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E5F3EB">
                  <a:lumMod val="50000"/>
                </a:srgbClr>
              </a:solidFill>
              <a:effectLst/>
              <a:uLnTx/>
              <a:uFillTx/>
              <a:latin typeface="Microsoft YaHei Light"/>
              <a:ea typeface="Microsoft YaHei Light"/>
              <a:cs typeface="+mn-cs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0965283"/>
              </p:ext>
            </p:extLst>
          </p:nvPr>
        </p:nvGraphicFramePr>
        <p:xfrm>
          <a:off x="330506" y="1082977"/>
          <a:ext cx="11545677" cy="5472944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715512">
                  <a:extLst>
                    <a:ext uri="{9D8B030D-6E8A-4147-A177-3AD203B41FA5}">
                      <a16:colId xmlns:a16="http://schemas.microsoft.com/office/drawing/2014/main" val="2601946874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230335172"/>
                    </a:ext>
                  </a:extLst>
                </a:gridCol>
                <a:gridCol w="3643746">
                  <a:extLst>
                    <a:ext uri="{9D8B030D-6E8A-4147-A177-3AD203B41FA5}">
                      <a16:colId xmlns:a16="http://schemas.microsoft.com/office/drawing/2014/main" val="2760337059"/>
                    </a:ext>
                  </a:extLst>
                </a:gridCol>
                <a:gridCol w="3528819">
                  <a:extLst>
                    <a:ext uri="{9D8B030D-6E8A-4147-A177-3AD203B41FA5}">
                      <a16:colId xmlns:a16="http://schemas.microsoft.com/office/drawing/2014/main" val="101268759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kumimoji="0" lang="zh-TW" altLang="zh-TW" sz="20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目標：</a:t>
                      </a:r>
                      <a:r>
                        <a:rPr kumimoji="0" lang="zh-TW" altLang="en-US" sz="20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降低視傳製圖錯誤率、快速提供產品視覺概念</a:t>
                      </a:r>
                      <a:endParaRPr lang="en-US" altLang="zh-TW" sz="2000" b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="0" dirty="0">
                        <a:solidFill>
                          <a:srgbClr val="7030A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altLang="zh-TW" sz="2000" b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altLang="zh-TW" sz="2000" b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0516916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項目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【</a:t>
                      </a:r>
                      <a:r>
                        <a:rPr lang="zh-TW" altLang="en-US" sz="18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品牌 </a:t>
                      </a:r>
                      <a:r>
                        <a:rPr lang="en-US" altLang="zh-TW" sz="18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Guidebook】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各品牌有不同的標準，根據標準進行外箱、標籤等檢索。</a:t>
                      </a:r>
                      <a:endParaRPr lang="en-US" altLang="zh-TW" sz="1800" b="0" dirty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【</a:t>
                      </a:r>
                      <a:r>
                        <a:rPr lang="zh-TW" altLang="en-US" sz="18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歷史設計搜尋</a:t>
                      </a:r>
                      <a:r>
                        <a:rPr lang="en-US" altLang="zh-TW" sz="18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】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過往圖片、型錄、開箱難以搜尋。</a:t>
                      </a:r>
                      <a:endParaRPr lang="en-US" altLang="zh-TW" sz="1800" b="0" dirty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【</a:t>
                      </a:r>
                      <a:r>
                        <a:rPr lang="zh-TW" altLang="en-US" sz="18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影片、圖片素材</a:t>
                      </a:r>
                      <a:r>
                        <a:rPr lang="en-US" altLang="zh-TW" sz="18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】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產出影片分鏡圖、客戶</a:t>
                      </a:r>
                      <a:r>
                        <a:rPr lang="en-US" altLang="zh-TW" sz="1800" b="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sales kit</a:t>
                      </a:r>
                      <a:r>
                        <a:rPr lang="zh-TW" altLang="en-US" sz="1800" b="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概念圖。</a:t>
                      </a:r>
                      <a:endParaRPr lang="en-US" altLang="zh-TW" sz="1800" b="0" dirty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0613277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當前挑戰</a:t>
                      </a:r>
                      <a:endParaRPr lang="zh-TW" altLang="en-US" sz="2000" b="1" dirty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zh-TW" altLang="en-US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翻查標準浪費大量時間</a:t>
                      </a:r>
                      <a:endParaRPr lang="en-US" altLang="zh-TW" sz="1800" dirty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342900" indent="-342900">
                        <a:buAutoNum type="arabicPeriod"/>
                      </a:pPr>
                      <a:r>
                        <a:rPr lang="zh-TW" altLang="en-US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遺漏客戶規範</a:t>
                      </a:r>
                      <a:r>
                        <a:rPr lang="zh-TW" altLang="en-US" sz="1800" b="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。</a:t>
                      </a:r>
                      <a:endParaRPr lang="zh-TW" altLang="en-US" sz="1800" dirty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常見問題：「以前好像做過類似的？」、關鍵字無法找到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zh-TW" altLang="en-US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網路上尋找近似素材</a:t>
                      </a:r>
                      <a:r>
                        <a:rPr lang="zh-TW" altLang="en-US" sz="1800" b="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。</a:t>
                      </a:r>
                      <a:endParaRPr lang="en-US" altLang="zh-TW" sz="1800" dirty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342900" indent="-342900">
                        <a:buAutoNum type="arabicPeriod"/>
                      </a:pPr>
                      <a:r>
                        <a:rPr lang="zh-TW" altLang="en-US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透過</a:t>
                      </a:r>
                      <a:r>
                        <a:rPr lang="en-US" altLang="zh-TW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3D</a:t>
                      </a:r>
                      <a:r>
                        <a:rPr lang="zh-TW" altLang="en-US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進行</a:t>
                      </a:r>
                      <a:r>
                        <a:rPr lang="en-US" altLang="zh-TW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photoshop</a:t>
                      </a:r>
                      <a:r>
                        <a:rPr lang="zh-TW" altLang="en-US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處理</a:t>
                      </a:r>
                      <a:r>
                        <a:rPr lang="zh-TW" altLang="en-US" sz="1800" b="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。</a:t>
                      </a:r>
                      <a:endParaRPr lang="zh-TW" altLang="en-US" sz="1800" dirty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7423795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預期效益</a:t>
                      </a:r>
                      <a:endParaRPr lang="zh-TW" altLang="en-US" sz="2000" b="1" dirty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內部</a:t>
                      </a:r>
                      <a:r>
                        <a:rPr lang="en-US" altLang="zh-TW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AI</a:t>
                      </a:r>
                      <a:r>
                        <a:rPr lang="zh-TW" altLang="en-US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：簡化搜尋作業流程與提供</a:t>
                      </a:r>
                      <a:r>
                        <a:rPr lang="en-US" altLang="zh-TW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check list</a:t>
                      </a:r>
                      <a:r>
                        <a:rPr lang="zh-TW" altLang="en-US" sz="1800" b="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。</a:t>
                      </a:r>
                      <a:endParaRPr lang="zh-TW" altLang="en-US" sz="1800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endParaRPr lang="en-US" altLang="zh-TW" sz="1800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r>
                        <a:rPr lang="zh-TW" altLang="en-US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程式：提供當前需要的</a:t>
                      </a:r>
                      <a:r>
                        <a:rPr lang="en-US" altLang="zh-TW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Guidebook</a:t>
                      </a:r>
                      <a:r>
                        <a:rPr lang="zh-TW" altLang="en-US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資料、並建立資料庫。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內部程式：進行標籤化資料管理、並建立資料庫。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外部</a:t>
                      </a:r>
                      <a:r>
                        <a:rPr lang="en-US" altLang="zh-TW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AI</a:t>
                      </a:r>
                      <a:r>
                        <a:rPr lang="zh-TW" altLang="en-US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：生成圖片</a:t>
                      </a:r>
                      <a:r>
                        <a:rPr lang="zh-TW" altLang="en-US" sz="1800" b="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。</a:t>
                      </a:r>
                      <a:endParaRPr lang="zh-TW" altLang="en-US" sz="1800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7157514"/>
                  </a:ext>
                </a:extLst>
              </a:tr>
              <a:tr h="687584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效率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25%</a:t>
                      </a:r>
                      <a:endParaRPr lang="zh-TW" altLang="en-US" sz="1800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50%</a:t>
                      </a:r>
                      <a:endParaRPr lang="zh-TW" altLang="en-US" sz="1800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100%</a:t>
                      </a:r>
                      <a:endParaRPr lang="zh-TW" altLang="en-US" sz="1800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3750567"/>
                  </a:ext>
                </a:extLst>
              </a:tr>
            </a:tbl>
          </a:graphicData>
        </a:graphic>
      </p:graphicFrame>
      <p:sp>
        <p:nvSpPr>
          <p:cNvPr id="12" name="標題 11"/>
          <p:cNvSpPr>
            <a:spLocks noGrp="1"/>
          </p:cNvSpPr>
          <p:nvPr>
            <p:ph type="title" idx="4294967295"/>
          </p:nvPr>
        </p:nvSpPr>
        <p:spPr>
          <a:xfrm>
            <a:off x="1376854" y="291560"/>
            <a:ext cx="9662047" cy="706926"/>
          </a:xfrm>
        </p:spPr>
        <p:txBody>
          <a:bodyPr>
            <a:normAutofit/>
          </a:bodyPr>
          <a:lstStyle/>
          <a:p>
            <a:r>
              <a:rPr lang="zh-TW" altLang="en-US" sz="3500" b="1" dirty="0">
                <a:solidFill>
                  <a:schemeClr val="accent6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行銷 </a:t>
            </a:r>
            <a:r>
              <a:rPr lang="en-US" altLang="zh-TW" sz="3500" b="1" dirty="0">
                <a:solidFill>
                  <a:schemeClr val="accent6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AI</a:t>
            </a:r>
            <a:r>
              <a:rPr lang="zh-TW" altLang="en-US" sz="3500" b="1" dirty="0">
                <a:solidFill>
                  <a:schemeClr val="accent6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導入計劃</a:t>
            </a:r>
            <a:r>
              <a:rPr lang="en-US" altLang="zh-TW" sz="3500" b="1" dirty="0">
                <a:solidFill>
                  <a:schemeClr val="accent6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-4/5</a:t>
            </a:r>
            <a:endParaRPr lang="zh-TW" altLang="en-US" sz="3500" b="1" dirty="0">
              <a:solidFill>
                <a:schemeClr val="accent6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86143409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70D24-75DB-8296-C5A4-9BB1D0B80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A2C76EC-CEE1-64E2-2EFE-3DE0DCB2DE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9B09EC-0F5A-4ED1-9D27-B6EB06E679C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E5F3EB">
                    <a:lumMod val="50000"/>
                  </a:srgbClr>
                </a:solidFill>
                <a:effectLst/>
                <a:uLnTx/>
                <a:uFillTx/>
                <a:latin typeface="Microsoft YaHei Light"/>
                <a:ea typeface="Microsoft YaHei Ligh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E5F3EB">
                  <a:lumMod val="50000"/>
                </a:srgbClr>
              </a:solidFill>
              <a:effectLst/>
              <a:uLnTx/>
              <a:uFillTx/>
              <a:latin typeface="Microsoft YaHei Light"/>
              <a:ea typeface="Microsoft YaHei Light"/>
              <a:cs typeface="+mn-cs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BF74805B-DF30-AAC7-80F6-CF97C44670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2780463"/>
              </p:ext>
            </p:extLst>
          </p:nvPr>
        </p:nvGraphicFramePr>
        <p:xfrm>
          <a:off x="330506" y="1082977"/>
          <a:ext cx="11545677" cy="5501152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715512">
                  <a:extLst>
                    <a:ext uri="{9D8B030D-6E8A-4147-A177-3AD203B41FA5}">
                      <a16:colId xmlns:a16="http://schemas.microsoft.com/office/drawing/2014/main" val="2601946874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230335172"/>
                    </a:ext>
                  </a:extLst>
                </a:gridCol>
                <a:gridCol w="3643746">
                  <a:extLst>
                    <a:ext uri="{9D8B030D-6E8A-4147-A177-3AD203B41FA5}">
                      <a16:colId xmlns:a16="http://schemas.microsoft.com/office/drawing/2014/main" val="2760337059"/>
                    </a:ext>
                  </a:extLst>
                </a:gridCol>
                <a:gridCol w="3528819">
                  <a:extLst>
                    <a:ext uri="{9D8B030D-6E8A-4147-A177-3AD203B41FA5}">
                      <a16:colId xmlns:a16="http://schemas.microsoft.com/office/drawing/2014/main" val="101268759"/>
                    </a:ext>
                  </a:extLst>
                </a:gridCol>
              </a:tblGrid>
              <a:tr h="390892">
                <a:tc gridSpan="4">
                  <a:txBody>
                    <a:bodyPr/>
                    <a:lstStyle/>
                    <a:p>
                      <a:r>
                        <a:rPr kumimoji="0" lang="zh-TW" altLang="zh-TW" sz="20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目標：</a:t>
                      </a:r>
                      <a:r>
                        <a:rPr kumimoji="0" lang="zh-TW" altLang="en-US" sz="20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專利檢索、說明書製作</a:t>
                      </a:r>
                      <a:endParaRPr lang="en-US" altLang="zh-TW" sz="2000" b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="0" dirty="0">
                        <a:solidFill>
                          <a:srgbClr val="7030A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altLang="zh-TW" sz="2000" b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altLang="zh-TW" sz="2000" b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0516916"/>
                  </a:ext>
                </a:extLst>
              </a:tr>
              <a:tr h="90205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項目</a:t>
                      </a:r>
                      <a:endParaRPr lang="zh-TW" altLang="en-US" sz="2000" b="1" dirty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【</a:t>
                      </a:r>
                      <a:r>
                        <a:rPr lang="zh-TW" altLang="en-US" sz="18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歷史專利庫</a:t>
                      </a:r>
                      <a:r>
                        <a:rPr lang="en-US" altLang="zh-TW" sz="18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】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過往申請過以及調查過的競品專利。</a:t>
                      </a:r>
                      <a:endParaRPr lang="en-US" altLang="zh-TW" sz="1800" b="0" dirty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【</a:t>
                      </a:r>
                      <a:r>
                        <a:rPr lang="zh-TW" altLang="en-US" sz="18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公司標準 </a:t>
                      </a:r>
                      <a:r>
                        <a:rPr lang="en-US" altLang="zh-TW" sz="18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IDF </a:t>
                      </a:r>
                      <a:r>
                        <a:rPr lang="zh-TW" altLang="en-US" sz="18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格式</a:t>
                      </a:r>
                      <a:r>
                        <a:rPr lang="en-US" altLang="zh-TW" sz="18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】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創新提案 </a:t>
                      </a:r>
                      <a:r>
                        <a:rPr lang="en-US" altLang="zh-TW" sz="1800" b="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(IDF) </a:t>
                      </a:r>
                      <a:r>
                        <a:rPr lang="zh-TW" altLang="en-US" sz="1800" b="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格式標準化</a:t>
                      </a:r>
                      <a:endParaRPr lang="en-US" altLang="zh-TW" sz="1800" b="0" dirty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【</a:t>
                      </a:r>
                      <a:r>
                        <a:rPr lang="zh-TW" altLang="en-US" sz="18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說明書資料庫</a:t>
                      </a:r>
                      <a:r>
                        <a:rPr lang="en-US" altLang="zh-TW" sz="18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】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過往說明書文字敘述、文法使用方式等檢查</a:t>
                      </a:r>
                      <a:endParaRPr lang="en-US" altLang="zh-TW" sz="1800" b="0" dirty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0613277"/>
                  </a:ext>
                </a:extLst>
              </a:tr>
              <a:tr h="97785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當前挑戰</a:t>
                      </a:r>
                      <a:endParaRPr lang="zh-TW" altLang="en-US" sz="2000" b="1" dirty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zh-TW" altLang="en-US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過往</a:t>
                      </a:r>
                      <a:r>
                        <a:rPr lang="en-US" altLang="zh-TW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excel</a:t>
                      </a:r>
                      <a:r>
                        <a:rPr lang="zh-TW" altLang="en-US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資料在檔案內部無法透過外部進行搜查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zh-TW" altLang="en-US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工程師無法撰寫符合專利的語言，無法簡短精準表達出想法。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zh-TW" altLang="en-US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過往人工檢閱搭配翻譯軟件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7423795"/>
                  </a:ext>
                </a:extLst>
              </a:tr>
              <a:tr h="2055868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預期效益</a:t>
                      </a:r>
                      <a:endParaRPr lang="zh-TW" altLang="en-US" sz="2000" b="1" dirty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專用</a:t>
                      </a:r>
                      <a:r>
                        <a:rPr lang="en-US" altLang="zh-TW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AI</a:t>
                      </a:r>
                      <a:r>
                        <a:rPr lang="zh-TW" altLang="en-US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：進行專利資料指向關鍵詞範圍搜查、並進行白話翻譯。</a:t>
                      </a:r>
                    </a:p>
                    <a:p>
                      <a:endParaRPr lang="en-US" altLang="zh-TW" sz="1800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r>
                        <a:rPr lang="zh-TW" altLang="en-US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程式：進行標籤化資料管理、並建立資料庫。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內部</a:t>
                      </a:r>
                      <a:r>
                        <a:rPr lang="en-US" altLang="zh-TW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AI</a:t>
                      </a:r>
                      <a:r>
                        <a:rPr lang="zh-TW" altLang="en-US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：進行資料與想法轉譯成</a:t>
                      </a:r>
                      <a:r>
                        <a:rPr lang="zh-TW" altLang="en-US" sz="1800" b="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格式標準化語言。</a:t>
                      </a:r>
                      <a:endParaRPr lang="zh-TW" altLang="en-US" sz="1800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專用</a:t>
                      </a:r>
                      <a:r>
                        <a:rPr lang="en-US" altLang="zh-TW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AI</a:t>
                      </a:r>
                      <a:r>
                        <a:rPr lang="zh-TW" altLang="en-US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：進行稿件校閱，省下翻譯費用。</a:t>
                      </a:r>
                      <a:endParaRPr lang="en-US" altLang="zh-TW" sz="1800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endParaRPr lang="zh-TW" altLang="en-US" sz="1800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endParaRPr lang="en-US" altLang="zh-TW" sz="1800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r>
                        <a:rPr lang="zh-TW" altLang="en-US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程式：進行標籤化資料管理、並建立資料庫。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7157514"/>
                  </a:ext>
                </a:extLst>
              </a:tr>
              <a:tr h="1156794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效率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75%</a:t>
                      </a:r>
                      <a:endParaRPr lang="zh-TW" altLang="en-US" sz="1800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50%</a:t>
                      </a:r>
                      <a:endParaRPr lang="zh-TW" altLang="en-US" sz="1800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50%</a:t>
                      </a:r>
                      <a:endParaRPr lang="zh-TW" altLang="en-US" sz="1800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7753069"/>
                  </a:ext>
                </a:extLst>
              </a:tr>
            </a:tbl>
          </a:graphicData>
        </a:graphic>
      </p:graphicFrame>
      <p:sp>
        <p:nvSpPr>
          <p:cNvPr id="12" name="標題 11">
            <a:extLst>
              <a:ext uri="{FF2B5EF4-FFF2-40B4-BE49-F238E27FC236}">
                <a16:creationId xmlns:a16="http://schemas.microsoft.com/office/drawing/2014/main" id="{66CF91F0-DDCA-4EBE-9FEB-D7DE42B15B7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376854" y="291560"/>
            <a:ext cx="9662047" cy="706926"/>
          </a:xfrm>
        </p:spPr>
        <p:txBody>
          <a:bodyPr>
            <a:normAutofit/>
          </a:bodyPr>
          <a:lstStyle/>
          <a:p>
            <a:r>
              <a:rPr lang="zh-TW" altLang="en-US" sz="3500" b="1" dirty="0">
                <a:solidFill>
                  <a:schemeClr val="accent6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行銷 </a:t>
            </a:r>
            <a:r>
              <a:rPr lang="en-US" altLang="zh-TW" sz="3500" b="1" dirty="0">
                <a:solidFill>
                  <a:schemeClr val="accent6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AI</a:t>
            </a:r>
            <a:r>
              <a:rPr lang="zh-TW" altLang="en-US" sz="3500" b="1" dirty="0">
                <a:solidFill>
                  <a:schemeClr val="accent6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導入計劃</a:t>
            </a:r>
            <a:r>
              <a:rPr lang="en-US" altLang="zh-TW" sz="3500" b="1" dirty="0">
                <a:solidFill>
                  <a:schemeClr val="accent6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-5/5</a:t>
            </a:r>
            <a:endParaRPr lang="zh-TW" altLang="en-US" sz="3500" b="1" dirty="0">
              <a:solidFill>
                <a:schemeClr val="accent6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38360619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9B09EC-0F5A-4ED1-9D27-B6EB06E679C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E5F3EB">
                    <a:lumMod val="50000"/>
                  </a:srgbClr>
                </a:solidFill>
                <a:effectLst/>
                <a:uLnTx/>
                <a:uFillTx/>
                <a:latin typeface="Microsoft YaHei Light"/>
                <a:ea typeface="Microsoft YaHei Ligh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E5F3EB">
                  <a:lumMod val="50000"/>
                </a:srgbClr>
              </a:solidFill>
              <a:effectLst/>
              <a:uLnTx/>
              <a:uFillTx/>
              <a:latin typeface="Microsoft YaHei Light"/>
              <a:ea typeface="Microsoft YaHei Light"/>
              <a:cs typeface="+mn-cs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1295720"/>
              </p:ext>
            </p:extLst>
          </p:nvPr>
        </p:nvGraphicFramePr>
        <p:xfrm>
          <a:off x="123918" y="148358"/>
          <a:ext cx="11917240" cy="6436733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629702">
                  <a:extLst>
                    <a:ext uri="{9D8B030D-6E8A-4147-A177-3AD203B41FA5}">
                      <a16:colId xmlns:a16="http://schemas.microsoft.com/office/drawing/2014/main" val="2601946874"/>
                    </a:ext>
                  </a:extLst>
                </a:gridCol>
                <a:gridCol w="2594406">
                  <a:extLst>
                    <a:ext uri="{9D8B030D-6E8A-4147-A177-3AD203B41FA5}">
                      <a16:colId xmlns:a16="http://schemas.microsoft.com/office/drawing/2014/main" val="2230335172"/>
                    </a:ext>
                  </a:extLst>
                </a:gridCol>
                <a:gridCol w="1939652">
                  <a:extLst>
                    <a:ext uri="{9D8B030D-6E8A-4147-A177-3AD203B41FA5}">
                      <a16:colId xmlns:a16="http://schemas.microsoft.com/office/drawing/2014/main" val="2760337059"/>
                    </a:ext>
                  </a:extLst>
                </a:gridCol>
                <a:gridCol w="405353">
                  <a:extLst>
                    <a:ext uri="{9D8B030D-6E8A-4147-A177-3AD203B41FA5}">
                      <a16:colId xmlns:a16="http://schemas.microsoft.com/office/drawing/2014/main" val="2380392430"/>
                    </a:ext>
                  </a:extLst>
                </a:gridCol>
                <a:gridCol w="5348127">
                  <a:extLst>
                    <a:ext uri="{9D8B030D-6E8A-4147-A177-3AD203B41FA5}">
                      <a16:colId xmlns:a16="http://schemas.microsoft.com/office/drawing/2014/main" val="210445936"/>
                    </a:ext>
                  </a:extLst>
                </a:gridCol>
              </a:tblGrid>
              <a:tr h="262150">
                <a:tc gridSpan="5">
                  <a:txBody>
                    <a:bodyPr/>
                    <a:lstStyle/>
                    <a:p>
                      <a:r>
                        <a:rPr kumimoji="0" lang="en-US" altLang="zh-TW" sz="20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AI</a:t>
                      </a:r>
                      <a:r>
                        <a:rPr kumimoji="0" lang="zh-TW" altLang="en-US" sz="20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導入前期提要</a:t>
                      </a:r>
                      <a:endParaRPr lang="en-US" altLang="zh-TW" sz="2000" b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36000" marB="36000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="0" dirty="0">
                        <a:solidFill>
                          <a:srgbClr val="7030A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altLang="zh-TW" sz="2000" b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516916"/>
                  </a:ext>
                </a:extLst>
              </a:tr>
              <a:tr h="177327">
                <a:tc>
                  <a:txBody>
                    <a:bodyPr/>
                    <a:lstStyle/>
                    <a:p>
                      <a:r>
                        <a:rPr lang="zh-TW" altLang="en-US" sz="1600" b="1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分類</a:t>
                      </a:r>
                    </a:p>
                  </a:txBody>
                  <a:tcPr marL="45720" marR="45720" marT="36000" marB="36000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 b="1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簡介</a:t>
                      </a:r>
                    </a:p>
                  </a:txBody>
                  <a:tcPr marL="45720" marR="45720" marT="36000" marB="36000" anchor="ctr"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r>
                        <a:rPr lang="zh-TW" altLang="en-US" sz="1600" b="1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能力評分</a:t>
                      </a:r>
                    </a:p>
                  </a:txBody>
                  <a:tcPr marL="45720" marR="45720" marT="36000" marB="36000" anchor="ctr"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3227389"/>
                  </a:ext>
                </a:extLst>
              </a:tr>
              <a:tr h="198533">
                <a:tc rowSpan="7">
                  <a:txBody>
                    <a:bodyPr/>
                    <a:lstStyle/>
                    <a:p>
                      <a:r>
                        <a:rPr lang="zh-TW" altLang="en-US" sz="1600" b="1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外部 </a:t>
                      </a:r>
                      <a:r>
                        <a:rPr lang="en-US" sz="1600" b="1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AI</a:t>
                      </a:r>
                      <a:endParaRPr lang="en-US" sz="1600" dirty="0">
                        <a:solidFill>
                          <a:sysClr val="windowText" lastClr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36000" marB="36000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7">
                  <a:txBody>
                    <a:bodyPr/>
                    <a:lstStyle/>
                    <a:p>
                      <a:r>
                        <a:rPr lang="zh-TW" altLang="en-US" sz="16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直接或間接使用</a:t>
                      </a:r>
                      <a:r>
                        <a:rPr lang="en-US" altLang="zh-TW" sz="16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en-US" sz="16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API)</a:t>
                      </a:r>
                      <a:r>
                        <a:rPr lang="zh-TW" altLang="en-US" sz="16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大模型如 </a:t>
                      </a:r>
                      <a:r>
                        <a:rPr lang="en-US" sz="1600" dirty="0" err="1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GPT、Gemini</a:t>
                      </a:r>
                      <a:r>
                        <a:rPr lang="en-US" sz="16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zh-TW" altLang="en-US" sz="16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等</a:t>
                      </a:r>
                    </a:p>
                  </a:txBody>
                  <a:tcPr marL="45720" marR="45720" marT="36000" marB="36000" anchor="ctr"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推理分析能力</a:t>
                      </a:r>
                      <a:endParaRPr lang="en-US" altLang="zh-TW" sz="1400" dirty="0">
                        <a:solidFill>
                          <a:sysClr val="windowText" lastClr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36000" marB="36000" anchor="ctr"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</a:t>
                      </a:r>
                    </a:p>
                  </a:txBody>
                  <a:tcPr marL="45720" marR="45720" marT="36000" marB="36000" anchor="ctr"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5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數十萬字上下文記憶能力，可執行各領域推理</a:t>
                      </a:r>
                      <a:endParaRPr lang="en-US" altLang="zh-TW" sz="1500" dirty="0">
                        <a:solidFill>
                          <a:sysClr val="windowText" lastClr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36000" marB="36000" anchor="ctr"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860613277"/>
                  </a:ext>
                </a:extLst>
              </a:tr>
              <a:tr h="198533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內部資料檢索能力</a:t>
                      </a:r>
                      <a:endParaRPr lang="en-US" altLang="zh-TW" sz="1400" dirty="0">
                        <a:solidFill>
                          <a:sysClr val="windowText" lastClr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36000" marB="360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</a:t>
                      </a:r>
                    </a:p>
                  </a:txBody>
                  <a:tcPr marL="45720" marR="45720" marT="36000" marB="36000" anchor="ctr"/>
                </a:tc>
                <a:tc>
                  <a:txBody>
                    <a:bodyPr/>
                    <a:lstStyle/>
                    <a:p>
                      <a:r>
                        <a:rPr lang="zh-TW" altLang="en-US" sz="15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可讀取各式資料格式</a:t>
                      </a:r>
                      <a:endParaRPr lang="en-US" altLang="zh-TW" sz="1500" dirty="0">
                        <a:solidFill>
                          <a:sysClr val="windowText" lastClr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r>
                        <a:rPr lang="en-US" altLang="zh-TW" sz="15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Json</a:t>
                      </a:r>
                      <a:r>
                        <a:rPr lang="zh-TW" altLang="en-US" sz="15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編碼或文字檔案</a:t>
                      </a:r>
                      <a:r>
                        <a:rPr lang="en-US" altLang="zh-TW" sz="15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:10</a:t>
                      </a:r>
                      <a:r>
                        <a:rPr lang="zh-TW" altLang="en-US" sz="15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、</a:t>
                      </a:r>
                      <a:r>
                        <a:rPr lang="en-US" altLang="zh-TW" sz="15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PDF:8</a:t>
                      </a:r>
                      <a:r>
                        <a:rPr lang="zh-TW" altLang="en-US" sz="15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、圖形</a:t>
                      </a:r>
                      <a:r>
                        <a:rPr lang="en-US" altLang="zh-TW" sz="15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:6</a:t>
                      </a:r>
                    </a:p>
                  </a:txBody>
                  <a:tcPr marL="45720" marR="45720" marT="36000" marB="36000" anchor="ctr"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95812209"/>
                  </a:ext>
                </a:extLst>
              </a:tr>
              <a:tr h="198533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外部搜尋能力</a:t>
                      </a:r>
                      <a:endParaRPr lang="en-US" altLang="zh-TW" sz="1400" dirty="0">
                        <a:solidFill>
                          <a:sysClr val="windowText" lastClr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36000" marB="360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</a:t>
                      </a:r>
                    </a:p>
                  </a:txBody>
                  <a:tcPr marL="45720" marR="45720" marT="36000" marB="36000" anchor="ctr"/>
                </a:tc>
                <a:tc>
                  <a:txBody>
                    <a:bodyPr/>
                    <a:lstStyle/>
                    <a:p>
                      <a:endParaRPr lang="en-US" altLang="zh-TW" sz="1500" dirty="0">
                        <a:solidFill>
                          <a:sysClr val="windowText" lastClr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36000" marB="36000" anchor="ctr"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087762158"/>
                  </a:ext>
                </a:extLst>
              </a:tr>
              <a:tr h="198533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Vibe Coding</a:t>
                      </a:r>
                      <a:r>
                        <a:rPr lang="zh-TW" altLang="en-US" sz="14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能力</a:t>
                      </a:r>
                      <a:endParaRPr lang="en-US" altLang="zh-TW" sz="1400" dirty="0">
                        <a:solidFill>
                          <a:sysClr val="windowText" lastClr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36000" marB="360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</a:t>
                      </a:r>
                    </a:p>
                  </a:txBody>
                  <a:tcPr marL="45720" marR="45720" marT="36000" marB="36000" anchor="ctr"/>
                </a:tc>
                <a:tc>
                  <a:txBody>
                    <a:bodyPr/>
                    <a:lstStyle/>
                    <a:p>
                      <a:r>
                        <a:rPr lang="zh-TW" altLang="en-US" sz="15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可實現高完成度程式架構</a:t>
                      </a:r>
                      <a:endParaRPr lang="en-US" altLang="zh-TW" sz="1500" dirty="0">
                        <a:solidFill>
                          <a:sysClr val="windowText" lastClr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36000" marB="36000" anchor="ctr"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39934409"/>
                  </a:ext>
                </a:extLst>
              </a:tr>
              <a:tr h="198533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Agent </a:t>
                      </a:r>
                      <a:r>
                        <a:rPr lang="en-US" altLang="zh-TW" sz="1400" dirty="0" err="1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WorkFlow</a:t>
                      </a:r>
                      <a:r>
                        <a:rPr lang="zh-TW" altLang="en-US" sz="14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能力</a:t>
                      </a:r>
                      <a:endParaRPr lang="en-US" altLang="zh-TW" sz="1400" dirty="0">
                        <a:solidFill>
                          <a:sysClr val="windowText" lastClr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36000" marB="360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</a:t>
                      </a:r>
                    </a:p>
                  </a:txBody>
                  <a:tcPr marL="45720" marR="45720" marT="36000" marB="36000" anchor="ctr"/>
                </a:tc>
                <a:tc>
                  <a:txBody>
                    <a:bodyPr/>
                    <a:lstStyle/>
                    <a:p>
                      <a:r>
                        <a:rPr lang="zh-TW" altLang="en-US" sz="15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可自我控制完成複雜程序作業</a:t>
                      </a:r>
                      <a:endParaRPr lang="en-US" altLang="zh-TW" sz="1500" dirty="0">
                        <a:solidFill>
                          <a:sysClr val="windowText" lastClr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36000" marB="36000" anchor="ctr"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17029474"/>
                  </a:ext>
                </a:extLst>
              </a:tr>
              <a:tr h="198533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隱私性</a:t>
                      </a:r>
                      <a:endParaRPr lang="en-US" altLang="zh-TW" sz="1400" dirty="0">
                        <a:solidFill>
                          <a:sysClr val="windowText" lastClr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36000" marB="360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</a:p>
                  </a:txBody>
                  <a:tcPr marL="45720" marR="45720" marT="36000" marB="36000" anchor="ctr"/>
                </a:tc>
                <a:tc>
                  <a:txBody>
                    <a:bodyPr/>
                    <a:lstStyle/>
                    <a:p>
                      <a:endParaRPr lang="en-US" altLang="zh-TW" sz="1500" dirty="0">
                        <a:solidFill>
                          <a:sysClr val="windowText" lastClr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36000" marB="36000" anchor="ctr"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206355407"/>
                  </a:ext>
                </a:extLst>
              </a:tr>
              <a:tr h="198533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特定領域分析能力</a:t>
                      </a:r>
                      <a:endParaRPr lang="en-US" altLang="zh-TW" sz="1400" dirty="0">
                        <a:solidFill>
                          <a:sysClr val="windowText" lastClr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36000" marB="36000" anchor="ctr"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</a:t>
                      </a:r>
                    </a:p>
                  </a:txBody>
                  <a:tcPr marL="45720" marR="45720" marT="36000" marB="36000" anchor="ctr"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5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無法依據內部數據庫進行物理推算</a:t>
                      </a:r>
                      <a:endParaRPr lang="en-US" altLang="zh-TW" sz="1500" dirty="0">
                        <a:solidFill>
                          <a:sysClr val="windowText" lastClr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36000" marB="36000" anchor="ctr"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8512369"/>
                  </a:ext>
                </a:extLst>
              </a:tr>
              <a:tr h="198533">
                <a:tc rowSpan="7">
                  <a:txBody>
                    <a:bodyPr/>
                    <a:lstStyle/>
                    <a:p>
                      <a:r>
                        <a:rPr lang="zh-TW" altLang="en-US" sz="16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地端 </a:t>
                      </a:r>
                      <a:r>
                        <a:rPr lang="en-US" altLang="zh-TW" sz="16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 </a:t>
                      </a:r>
                      <a:r>
                        <a:rPr lang="zh-TW" altLang="en-US" sz="16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內部 </a:t>
                      </a:r>
                      <a:r>
                        <a:rPr lang="en-US" altLang="zh-TW" sz="16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AI</a:t>
                      </a:r>
                      <a:endParaRPr lang="en-US" sz="1600" dirty="0">
                        <a:solidFill>
                          <a:sysClr val="windowText" lastClr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36000" marB="36000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7">
                  <a:txBody>
                    <a:bodyPr/>
                    <a:lstStyle/>
                    <a:p>
                      <a:r>
                        <a:rPr lang="zh-TW" altLang="en-US" sz="16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將開源模型部署於內部實體伺服器或工作站，斷網獨立運作，處理文書語言推理。</a:t>
                      </a:r>
                    </a:p>
                  </a:txBody>
                  <a:tcPr marL="45720" marR="45720" marT="36000" marB="36000" anchor="ctr"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推理分析能力</a:t>
                      </a:r>
                      <a:endParaRPr lang="en-US" altLang="zh-TW" sz="1400" dirty="0">
                        <a:solidFill>
                          <a:sysClr val="windowText" lastClr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36000" marB="36000" anchor="ctr"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3-5</a:t>
                      </a:r>
                    </a:p>
                  </a:txBody>
                  <a:tcPr marL="45720" marR="45720" marT="36000" marB="36000" anchor="ctr"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5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受限於公司自建的硬體算力上限，與資料複雜性。</a:t>
                      </a:r>
                      <a:endParaRPr lang="en-US" altLang="zh-TW" sz="1500" dirty="0">
                        <a:solidFill>
                          <a:sysClr val="windowText" lastClr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r>
                        <a:rPr lang="zh-TW" altLang="en-US" sz="15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文書</a:t>
                      </a:r>
                      <a:r>
                        <a:rPr lang="en-US" altLang="zh-TW" sz="15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:5</a:t>
                      </a:r>
                      <a:r>
                        <a:rPr lang="zh-TW" altLang="en-US" sz="15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、分析</a:t>
                      </a:r>
                      <a:r>
                        <a:rPr lang="en-US" altLang="zh-TW" sz="15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:3</a:t>
                      </a:r>
                      <a:r>
                        <a:rPr lang="zh-TW" altLang="en-US" sz="15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、圖形</a:t>
                      </a:r>
                      <a:r>
                        <a:rPr lang="en-US" altLang="zh-TW" sz="15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:</a:t>
                      </a:r>
                      <a:r>
                        <a:rPr lang="zh-TW" altLang="en-US" sz="15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5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</a:p>
                  </a:txBody>
                  <a:tcPr marL="45720" marR="45720" marT="36000" marB="36000" anchor="ctr"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526577429"/>
                  </a:ext>
                </a:extLst>
              </a:tr>
              <a:tr h="198533">
                <a:tc v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內部資料檢索能力</a:t>
                      </a:r>
                      <a:endParaRPr lang="en-US" altLang="zh-TW" sz="1400" dirty="0">
                        <a:solidFill>
                          <a:sysClr val="windowText" lastClr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36000" marB="360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</a:t>
                      </a:r>
                    </a:p>
                  </a:txBody>
                  <a:tcPr marL="45720" marR="45720" marT="36000" marB="36000" anchor="ctr"/>
                </a:tc>
                <a:tc>
                  <a:txBody>
                    <a:bodyPr/>
                    <a:lstStyle/>
                    <a:p>
                      <a:r>
                        <a:rPr lang="zh-TW" altLang="en-US" sz="15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沒辦法像 </a:t>
                      </a:r>
                      <a:r>
                        <a:rPr lang="en-US" altLang="zh-TW" sz="15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Gemini </a:t>
                      </a:r>
                      <a:r>
                        <a:rPr lang="zh-TW" altLang="en-US" sz="15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一樣一次吞幾百頁 </a:t>
                      </a:r>
                      <a:r>
                        <a:rPr lang="en-US" altLang="zh-TW" sz="15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PDF </a:t>
                      </a:r>
                      <a:r>
                        <a:rPr lang="zh-TW" altLang="en-US" sz="15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還不漏字。</a:t>
                      </a:r>
                      <a:endParaRPr lang="en-US" altLang="zh-TW" sz="1500" dirty="0">
                        <a:solidFill>
                          <a:sysClr val="windowText" lastClr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36000" marB="36000" anchor="ctr"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61308722"/>
                  </a:ext>
                </a:extLst>
              </a:tr>
              <a:tr h="198533">
                <a:tc v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外部搜尋能力</a:t>
                      </a:r>
                      <a:endParaRPr lang="en-US" altLang="zh-TW" sz="1400" dirty="0">
                        <a:solidFill>
                          <a:sysClr val="windowText" lastClr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36000" marB="360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0-4</a:t>
                      </a:r>
                    </a:p>
                  </a:txBody>
                  <a:tcPr marL="45720" marR="45720" marT="36000" marB="36000" anchor="ctr"/>
                </a:tc>
                <a:tc>
                  <a:txBody>
                    <a:bodyPr/>
                    <a:lstStyle/>
                    <a:p>
                      <a:r>
                        <a:rPr lang="zh-TW" altLang="en-US" sz="15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無法直接發揮</a:t>
                      </a:r>
                      <a:r>
                        <a:rPr lang="en-US" altLang="zh-TW" sz="15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google</a:t>
                      </a:r>
                      <a:r>
                        <a:rPr lang="zh-TW" altLang="en-US" sz="15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搜尋引勤能力。</a:t>
                      </a:r>
                      <a:endParaRPr lang="en-US" altLang="zh-TW" sz="1500" dirty="0">
                        <a:solidFill>
                          <a:sysClr val="windowText" lastClr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36000" marB="36000" anchor="ctr"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839035146"/>
                  </a:ext>
                </a:extLst>
              </a:tr>
              <a:tr h="346973">
                <a:tc v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Vibe Coding</a:t>
                      </a:r>
                      <a:r>
                        <a:rPr lang="zh-TW" altLang="en-US" sz="14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能力</a:t>
                      </a:r>
                      <a:endParaRPr lang="en-US" altLang="zh-TW" sz="1400" dirty="0">
                        <a:solidFill>
                          <a:sysClr val="windowText" lastClr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36000" marB="360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1-3</a:t>
                      </a:r>
                    </a:p>
                  </a:txBody>
                  <a:tcPr marL="45720" marR="45720" marT="36000" marB="36000" anchor="ctr"/>
                </a:tc>
                <a:tc>
                  <a:txBody>
                    <a:bodyPr/>
                    <a:lstStyle/>
                    <a:p>
                      <a:r>
                        <a:rPr lang="zh-TW" altLang="en-US" sz="15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地端只能做到單次的生成與問答，無法完成專案。</a:t>
                      </a:r>
                      <a:endParaRPr lang="en-US" altLang="zh-TW" sz="1500" dirty="0">
                        <a:solidFill>
                          <a:sysClr val="windowText" lastClr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r>
                        <a:rPr lang="zh-TW" altLang="en-US" sz="15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簡易程式</a:t>
                      </a:r>
                      <a:r>
                        <a:rPr lang="en-US" altLang="zh-TW" sz="15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:3</a:t>
                      </a:r>
                      <a:r>
                        <a:rPr lang="zh-TW" altLang="en-US" sz="15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、專案程式</a:t>
                      </a:r>
                      <a:r>
                        <a:rPr lang="en-US" altLang="zh-TW" sz="15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:1</a:t>
                      </a:r>
                    </a:p>
                  </a:txBody>
                  <a:tcPr marL="45720" marR="45720" marT="36000" marB="36000" anchor="ctr"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597360417"/>
                  </a:ext>
                </a:extLst>
              </a:tr>
              <a:tr h="198533">
                <a:tc v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Agent </a:t>
                      </a:r>
                      <a:r>
                        <a:rPr lang="en-US" altLang="zh-TW" sz="1400" dirty="0" err="1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WorkFlow</a:t>
                      </a:r>
                      <a:r>
                        <a:rPr lang="zh-TW" altLang="en-US" sz="14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能力</a:t>
                      </a:r>
                      <a:endParaRPr lang="en-US" altLang="zh-TW" sz="1400" dirty="0">
                        <a:solidFill>
                          <a:sysClr val="windowText" lastClr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36000" marB="360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</a:t>
                      </a:r>
                    </a:p>
                  </a:txBody>
                  <a:tcPr marL="45720" marR="45720" marT="36000" marB="36000" anchor="ctr"/>
                </a:tc>
                <a:tc>
                  <a:txBody>
                    <a:bodyPr/>
                    <a:lstStyle/>
                    <a:p>
                      <a:r>
                        <a:rPr lang="zh-TW" altLang="en-US" sz="15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地端模型工具調用穩定度極差，任務卡住機率高。</a:t>
                      </a:r>
                      <a:endParaRPr lang="en-US" altLang="zh-TW" sz="1500" dirty="0">
                        <a:solidFill>
                          <a:sysClr val="windowText" lastClr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36000" marB="36000" anchor="ctr"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276512330"/>
                  </a:ext>
                </a:extLst>
              </a:tr>
              <a:tr h="198533">
                <a:tc v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隱私性</a:t>
                      </a:r>
                      <a:endParaRPr lang="en-US" altLang="zh-TW" sz="1400" dirty="0">
                        <a:solidFill>
                          <a:sysClr val="windowText" lastClr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36000" marB="360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</a:t>
                      </a:r>
                    </a:p>
                  </a:txBody>
                  <a:tcPr marL="45720" marR="45720" marT="36000" marB="36000" anchor="ctr"/>
                </a:tc>
                <a:tc>
                  <a:txBody>
                    <a:bodyPr/>
                    <a:lstStyle/>
                    <a:p>
                      <a:endParaRPr lang="en-US" altLang="zh-TW" sz="1500" dirty="0">
                        <a:solidFill>
                          <a:sysClr val="windowText" lastClr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36000" marB="36000" anchor="ctr"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22050280"/>
                  </a:ext>
                </a:extLst>
              </a:tr>
              <a:tr h="346973">
                <a:tc v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特定領域分析能力</a:t>
                      </a:r>
                      <a:endParaRPr lang="en-US" altLang="zh-TW" sz="1400" dirty="0">
                        <a:solidFill>
                          <a:sysClr val="windowText" lastClr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36000" marB="36000" anchor="ctr"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</a:t>
                      </a:r>
                    </a:p>
                  </a:txBody>
                  <a:tcPr marL="45720" marR="45720" marT="36000" marB="36000" anchor="ctr"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5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需要內部 </a:t>
                      </a:r>
                      <a:r>
                        <a:rPr lang="en-US" altLang="zh-TW" sz="15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IT </a:t>
                      </a:r>
                      <a:r>
                        <a:rPr lang="zh-TW" altLang="en-US" sz="15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花大量時間，但無法提供物理計算。</a:t>
                      </a:r>
                      <a:endParaRPr lang="en-US" altLang="zh-TW" sz="1500" dirty="0">
                        <a:solidFill>
                          <a:sysClr val="windowText" lastClr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36000" marB="36000" anchor="ctr"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7607735"/>
                  </a:ext>
                </a:extLst>
              </a:tr>
              <a:tr h="198533">
                <a:tc rowSpan="2">
                  <a:txBody>
                    <a:bodyPr/>
                    <a:lstStyle/>
                    <a:p>
                      <a:r>
                        <a:rPr lang="zh-TW" altLang="en-US" sz="16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專用分析型 </a:t>
                      </a:r>
                      <a:r>
                        <a:rPr lang="en-US" altLang="zh-TW" sz="16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AI</a:t>
                      </a:r>
                      <a:endParaRPr lang="en-US" sz="1600" dirty="0">
                        <a:solidFill>
                          <a:sysClr val="windowText" lastClr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36000" marB="36000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r>
                        <a:rPr lang="zh-TW" altLang="en-US" sz="16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專業工程軟體 </a:t>
                      </a:r>
                      <a:r>
                        <a:rPr lang="en-US" altLang="zh-TW" sz="16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(CAE/CAD) </a:t>
                      </a:r>
                      <a:r>
                        <a:rPr lang="zh-TW" altLang="en-US" sz="16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內建的特化機器學習演算法與數值預測模型</a:t>
                      </a:r>
                    </a:p>
                  </a:txBody>
                  <a:tcPr marL="45720" marR="45720" marT="36000" marB="36000" anchor="ctr"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推理分析能力</a:t>
                      </a:r>
                      <a:endParaRPr lang="en-US" altLang="zh-TW" sz="1400" dirty="0">
                        <a:solidFill>
                          <a:sysClr val="windowText" lastClr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36000" marB="36000" anchor="ctr"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</a:p>
                  </a:txBody>
                  <a:tcPr marL="45720" marR="45720" marT="36000" marB="36000" anchor="ctr"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altLang="zh-TW" sz="1500" dirty="0">
                        <a:solidFill>
                          <a:sysClr val="windowText" lastClr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36000" marB="36000" anchor="ctr"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243074903"/>
                  </a:ext>
                </a:extLst>
              </a:tr>
              <a:tr h="360498">
                <a:tc vMerge="1">
                  <a:txBody>
                    <a:bodyPr/>
                    <a:lstStyle/>
                    <a:p>
                      <a:endParaRPr lang="en-US" sz="1600"/>
                    </a:p>
                  </a:txBody>
                  <a:tcPr marL="45720" marR="45720" marT="36000" marB="36000" anchor="ctr"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 marL="45720" marR="45720" marT="36000" marB="36000" anchor="ctr"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特定領域分析能力</a:t>
                      </a:r>
                      <a:endParaRPr lang="en-US" altLang="zh-TW" sz="1400" dirty="0">
                        <a:solidFill>
                          <a:sysClr val="windowText" lastClr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36000" marB="36000" anchor="ctr"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</a:t>
                      </a:r>
                    </a:p>
                  </a:txBody>
                  <a:tcPr marL="45720" marR="45720" marT="36000" marB="36000" anchor="ctr"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5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通常內建在軟體中，執行固定參數分析，回傳固定資料結構</a:t>
                      </a:r>
                      <a:endParaRPr lang="en-US" altLang="zh-TW" sz="1500" dirty="0">
                        <a:solidFill>
                          <a:sysClr val="windowText" lastClr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36000" marB="36000" anchor="ctr"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13251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508384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9B09EC-0F5A-4ED1-9D27-B6EB06E679C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E5F3EB">
                    <a:lumMod val="50000"/>
                  </a:srgbClr>
                </a:solidFill>
                <a:effectLst/>
                <a:uLnTx/>
                <a:uFillTx/>
                <a:latin typeface="Microsoft YaHei Light"/>
                <a:ea typeface="Microsoft YaHei Ligh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E5F3EB">
                  <a:lumMod val="50000"/>
                </a:srgbClr>
              </a:solidFill>
              <a:effectLst/>
              <a:uLnTx/>
              <a:uFillTx/>
              <a:latin typeface="Microsoft YaHei Light"/>
              <a:ea typeface="Microsoft YaHei Light"/>
              <a:cs typeface="+mn-cs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2591197"/>
              </p:ext>
            </p:extLst>
          </p:nvPr>
        </p:nvGraphicFramePr>
        <p:xfrm>
          <a:off x="123918" y="148358"/>
          <a:ext cx="11800988" cy="4879785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670629">
                  <a:extLst>
                    <a:ext uri="{9D8B030D-6E8A-4147-A177-3AD203B41FA5}">
                      <a16:colId xmlns:a16="http://schemas.microsoft.com/office/drawing/2014/main" val="2601946874"/>
                    </a:ext>
                  </a:extLst>
                </a:gridCol>
                <a:gridCol w="2659560">
                  <a:extLst>
                    <a:ext uri="{9D8B030D-6E8A-4147-A177-3AD203B41FA5}">
                      <a16:colId xmlns:a16="http://schemas.microsoft.com/office/drawing/2014/main" val="2230335172"/>
                    </a:ext>
                  </a:extLst>
                </a:gridCol>
                <a:gridCol w="1988363">
                  <a:extLst>
                    <a:ext uri="{9D8B030D-6E8A-4147-A177-3AD203B41FA5}">
                      <a16:colId xmlns:a16="http://schemas.microsoft.com/office/drawing/2014/main" val="2760337059"/>
                    </a:ext>
                  </a:extLst>
                </a:gridCol>
                <a:gridCol w="5482436">
                  <a:extLst>
                    <a:ext uri="{9D8B030D-6E8A-4147-A177-3AD203B41FA5}">
                      <a16:colId xmlns:a16="http://schemas.microsoft.com/office/drawing/2014/main" val="210445936"/>
                    </a:ext>
                  </a:extLst>
                </a:gridCol>
              </a:tblGrid>
              <a:tr h="851964">
                <a:tc gridSpan="4">
                  <a:txBody>
                    <a:bodyPr/>
                    <a:lstStyle/>
                    <a:p>
                      <a:r>
                        <a:rPr kumimoji="0" lang="en-US" altLang="zh-TW" sz="20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AI</a:t>
                      </a:r>
                      <a:r>
                        <a:rPr kumimoji="0" lang="zh-TW" altLang="en-US" sz="20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導入前期提要</a:t>
                      </a:r>
                      <a:endParaRPr lang="en-US" altLang="zh-TW" sz="2000" b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36000" marB="36000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b="0" dirty="0">
                        <a:solidFill>
                          <a:srgbClr val="7030A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altLang="zh-TW" sz="2000" b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080516916"/>
                  </a:ext>
                </a:extLst>
              </a:tr>
              <a:tr h="714130">
                <a:tc>
                  <a:txBody>
                    <a:bodyPr/>
                    <a:lstStyle/>
                    <a:p>
                      <a:r>
                        <a:rPr lang="zh-TW" altLang="en-US" sz="1600" b="1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分類</a:t>
                      </a:r>
                    </a:p>
                  </a:txBody>
                  <a:tcPr marL="45720" marR="45720" marT="36000" marB="36000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 b="1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簡介</a:t>
                      </a:r>
                    </a:p>
                  </a:txBody>
                  <a:tcPr marL="45720" marR="45720" marT="36000" marB="36000" anchor="ctr"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r>
                        <a:rPr lang="zh-TW" altLang="en-US" sz="1600" b="1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能力評分</a:t>
                      </a:r>
                    </a:p>
                  </a:txBody>
                  <a:tcPr marL="45720" marR="45720" marT="36000" marB="36000" anchor="ctr"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503227389"/>
                  </a:ext>
                </a:extLst>
              </a:tr>
              <a:tr h="679672">
                <a:tc rowSpan="3">
                  <a:txBody>
                    <a:bodyPr/>
                    <a:lstStyle/>
                    <a:p>
                      <a:r>
                        <a:rPr lang="zh-TW" altLang="en-US" sz="1600" b="1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程式</a:t>
                      </a:r>
                      <a:endParaRPr lang="en-US" sz="1600" dirty="0">
                        <a:solidFill>
                          <a:sysClr val="windowText" lastClr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36000" marB="36000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r>
                        <a:rPr lang="zh-TW" altLang="en-US" sz="16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很多資料並不需要</a:t>
                      </a:r>
                      <a:r>
                        <a:rPr lang="en-US" altLang="zh-TW" sz="16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AI</a:t>
                      </a:r>
                      <a:r>
                        <a:rPr lang="zh-TW" altLang="en-US" sz="16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，而是因為過去資料沒有資料庫化，以單一檔案進行資料夾整理，無法檢所與歸納。</a:t>
                      </a:r>
                      <a:endParaRPr lang="en-US" altLang="zh-TW" sz="1600" dirty="0">
                        <a:solidFill>
                          <a:sysClr val="windowText" lastClr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endParaRPr lang="zh-TW" altLang="en-US" sz="1600" dirty="0">
                        <a:solidFill>
                          <a:sysClr val="windowText" lastClr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36000" marB="36000" anchor="ctr"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資料庫管理</a:t>
                      </a:r>
                      <a:endParaRPr lang="en-US" altLang="zh-TW" sz="1400" dirty="0">
                        <a:solidFill>
                          <a:sysClr val="windowText" lastClr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36000" marB="36000" anchor="ctr"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5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市場、專利、會議、成本、報價、</a:t>
                      </a:r>
                      <a:r>
                        <a:rPr lang="en-US" altLang="zh-TW" sz="1500" dirty="0" err="1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GuideLine</a:t>
                      </a:r>
                      <a:r>
                        <a:rPr lang="zh-TW" altLang="en-US" sz="15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等資料進行索引管理，才有可能使內</a:t>
                      </a:r>
                      <a:r>
                        <a:rPr lang="en-US" altLang="zh-TW" sz="15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</a:t>
                      </a:r>
                      <a:r>
                        <a:rPr lang="zh-TW" altLang="en-US" sz="15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外部</a:t>
                      </a:r>
                      <a:r>
                        <a:rPr lang="en-US" altLang="zh-TW" sz="15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AI</a:t>
                      </a:r>
                      <a:r>
                        <a:rPr lang="zh-TW" altLang="en-US" sz="15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可以進行分析與搜尋</a:t>
                      </a:r>
                      <a:endParaRPr lang="en-US" altLang="zh-TW" sz="1500" dirty="0">
                        <a:solidFill>
                          <a:sysClr val="windowText" lastClr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36000" marB="36000" anchor="ctr"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860613277"/>
                  </a:ext>
                </a:extLst>
              </a:tr>
              <a:tr h="1196547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數據分析</a:t>
                      </a:r>
                      <a:r>
                        <a:rPr lang="en-US" altLang="zh-TW" sz="14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(BI)</a:t>
                      </a:r>
                    </a:p>
                  </a:txBody>
                  <a:tcPr marL="45720" marR="45720" marT="36000" marB="360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5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AI</a:t>
                      </a:r>
                      <a:r>
                        <a:rPr lang="zh-TW" altLang="en-US" sz="15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分析資料庫後，</a:t>
                      </a:r>
                      <a:r>
                        <a:rPr lang="en-US" altLang="zh-TW" sz="15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AI</a:t>
                      </a:r>
                      <a:r>
                        <a:rPr lang="zh-TW" altLang="en-US" sz="15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無法自行生成報告，需要搭配程式定期分析報告並生成圖表數據才能視覺化。</a:t>
                      </a:r>
                      <a:endParaRPr lang="en-US" altLang="zh-TW" sz="1500" dirty="0">
                        <a:solidFill>
                          <a:sysClr val="windowText" lastClr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36000" marB="36000" anchor="ctr"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95812209"/>
                  </a:ext>
                </a:extLst>
              </a:tr>
              <a:tr h="679672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文書讀取撰寫</a:t>
                      </a:r>
                      <a:endParaRPr lang="en-US" altLang="zh-TW" sz="1400" dirty="0">
                        <a:solidFill>
                          <a:sysClr val="windowText" lastClr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36000" marB="36000" anchor="ctr"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5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過往</a:t>
                      </a:r>
                      <a:r>
                        <a:rPr lang="en-US" altLang="zh-TW" sz="15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EXCEL</a:t>
                      </a:r>
                      <a:r>
                        <a:rPr lang="zh-TW" altLang="en-US" sz="15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、</a:t>
                      </a:r>
                      <a:r>
                        <a:rPr lang="en-US" altLang="zh-TW" sz="15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WORD</a:t>
                      </a:r>
                      <a:r>
                        <a:rPr lang="zh-TW" altLang="en-US" sz="15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、</a:t>
                      </a:r>
                      <a:r>
                        <a:rPr lang="en-US" altLang="zh-TW" sz="15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PPT</a:t>
                      </a:r>
                      <a:r>
                        <a:rPr lang="zh-TW" altLang="en-US" sz="15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等人</a:t>
                      </a:r>
                      <a:r>
                        <a:rPr lang="en-US" altLang="zh-TW" sz="15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Office </a:t>
                      </a:r>
                      <a:r>
                        <a:rPr lang="zh-TW" altLang="en-US" sz="15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環境並非設計給</a:t>
                      </a:r>
                      <a:r>
                        <a:rPr lang="en-US" altLang="zh-TW" sz="15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AI</a:t>
                      </a:r>
                      <a:r>
                        <a:rPr lang="zh-TW" altLang="en-US" sz="15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讀取</a:t>
                      </a:r>
                      <a:r>
                        <a:rPr lang="en-US" altLang="zh-TW" sz="15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</a:t>
                      </a:r>
                      <a:r>
                        <a:rPr lang="zh-TW" altLang="en-US" sz="15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作業。導入</a:t>
                      </a:r>
                      <a:r>
                        <a:rPr lang="en-US" altLang="zh-TW" sz="15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AI</a:t>
                      </a:r>
                      <a:r>
                        <a:rPr lang="zh-TW" altLang="en-US" sz="15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要改變撰寫型態，以文字化資料庫</a:t>
                      </a:r>
                      <a:r>
                        <a:rPr lang="en-US" altLang="zh-TW" sz="15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+</a:t>
                      </a:r>
                      <a:r>
                        <a:rPr lang="zh-TW" altLang="en-US" sz="15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視覺化編碼。</a:t>
                      </a:r>
                      <a:endParaRPr lang="en-US" altLang="zh-TW" sz="1500" dirty="0">
                        <a:solidFill>
                          <a:sysClr val="windowText" lastClr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r>
                        <a:rPr lang="zh-TW" altLang="en-US" sz="15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取代過往企劃案、工作表格等，達到</a:t>
                      </a:r>
                      <a:r>
                        <a:rPr lang="en-US" altLang="zh-TW" sz="15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AI Agent Work Flow</a:t>
                      </a:r>
                      <a:r>
                        <a:rPr lang="zh-TW" altLang="en-US" sz="15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。</a:t>
                      </a:r>
                      <a:endParaRPr lang="en-US" altLang="zh-TW" sz="1500" dirty="0">
                        <a:solidFill>
                          <a:sysClr val="windowText" lastClr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36000" marB="36000" anchor="ctr"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7762158"/>
                  </a:ext>
                </a:extLst>
              </a:tr>
              <a:tr h="679672">
                <a:tc gridSpan="4">
                  <a:txBody>
                    <a:bodyPr/>
                    <a:lstStyle/>
                    <a:p>
                      <a:r>
                        <a:rPr lang="zh-TW" altLang="en-US" sz="16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以前要需由一個專業</a:t>
                      </a:r>
                      <a:r>
                        <a:rPr lang="en-US" altLang="zh-TW" sz="16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IT</a:t>
                      </a:r>
                      <a:r>
                        <a:rPr lang="zh-TW" altLang="en-US" sz="1600" dirty="0">
                          <a:solidFill>
                            <a:sysClr val="windowText" lastClr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才能建立資料庫，現在門檻以降低，只要有種子人員就可以替各部門完成需求。</a:t>
                      </a:r>
                      <a:endParaRPr lang="en-US" sz="1600" dirty="0">
                        <a:solidFill>
                          <a:sysClr val="windowText" lastClr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36000" marB="36000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 sz="1600" dirty="0">
                        <a:solidFill>
                          <a:sysClr val="windowText" lastClr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36000" marB="36000" anchor="ctr"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altLang="zh-TW" sz="1400" dirty="0">
                        <a:solidFill>
                          <a:sysClr val="windowText" lastClr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36000" marB="36000" anchor="ctr"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altLang="zh-TW" sz="1500" dirty="0">
                        <a:solidFill>
                          <a:sysClr val="windowText" lastClr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36000" marB="36000" anchor="ctr"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19342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0034920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自定义设计方案">
  <a:themeElements>
    <a:clrScheme name="REXON 50th 紀念版">
      <a:dk1>
        <a:srgbClr val="32768D"/>
      </a:dk1>
      <a:lt1>
        <a:srgbClr val="E5F3EB"/>
      </a:lt1>
      <a:dk2>
        <a:srgbClr val="0A2240"/>
      </a:dk2>
      <a:lt2>
        <a:srgbClr val="FFFFFF"/>
      </a:lt2>
      <a:accent1>
        <a:srgbClr val="0A2236"/>
      </a:accent1>
      <a:accent2>
        <a:srgbClr val="32768D"/>
      </a:accent2>
      <a:accent3>
        <a:srgbClr val="2A7A56"/>
      </a:accent3>
      <a:accent4>
        <a:srgbClr val="FFC000"/>
      </a:accent4>
      <a:accent5>
        <a:srgbClr val="DEDABC"/>
      </a:accent5>
      <a:accent6>
        <a:srgbClr val="505050"/>
      </a:accent6>
      <a:hlink>
        <a:srgbClr val="44C78B"/>
      </a:hlink>
      <a:folHlink>
        <a:srgbClr val="88661A"/>
      </a:folHlink>
    </a:clrScheme>
    <a:fontScheme name="50周年紀念版字型">
      <a:majorFont>
        <a:latin typeface="Microsoft YaHei"/>
        <a:ea typeface="Microsoft YaHei"/>
        <a:cs typeface=""/>
      </a:majorFont>
      <a:minorFont>
        <a:latin typeface="Microsoft YaHei Light"/>
        <a:ea typeface="Microsoft YaHei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13364</TotalTime>
  <Words>1502</Words>
  <Application>Microsoft Office PowerPoint</Application>
  <PresentationFormat>寬螢幕</PresentationFormat>
  <Paragraphs>219</Paragraphs>
  <Slides>7</Slides>
  <Notes>7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3" baseType="lpstr">
      <vt:lpstr>Microsoft YaHei</vt:lpstr>
      <vt:lpstr>Microsoft YaHei Light</vt:lpstr>
      <vt:lpstr>微軟正黑體</vt:lpstr>
      <vt:lpstr>Arial</vt:lpstr>
      <vt:lpstr>Calibri</vt:lpstr>
      <vt:lpstr>自定义设计方案</vt:lpstr>
      <vt:lpstr>行銷 AI導入計劃-1/5</vt:lpstr>
      <vt:lpstr>行銷 AI導入計劃-2/5</vt:lpstr>
      <vt:lpstr>行銷 AI導入計劃-3/5</vt:lpstr>
      <vt:lpstr>行銷 AI導入計劃-4/5</vt:lpstr>
      <vt:lpstr>行銷 AI導入計劃-5/5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Rexon 50周年紀念版</dc:title>
  <dc:creator>董事長室;louis.chong</dc:creator>
  <cp:lastModifiedBy>Eason Cheng</cp:lastModifiedBy>
  <cp:revision>1195</cp:revision>
  <cp:lastPrinted>2021-07-28T03:26:05Z</cp:lastPrinted>
  <dcterms:created xsi:type="dcterms:W3CDTF">2015-07-30T03:49:32Z</dcterms:created>
  <dcterms:modified xsi:type="dcterms:W3CDTF">2026-03-05T03:32:36Z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-1845389320</vt:i4>
  </property>
  <property fmtid="{D5CDD505-2E9C-101B-9397-08002B2CF9AE}" pid="3" name="_NewReviewCycle">
    <vt:lpwstr/>
  </property>
  <property fmtid="{D5CDD505-2E9C-101B-9397-08002B2CF9AE}" pid="4" name="_EmailSubject">
    <vt:lpwstr>AI導入計劃(力科,製造及技術處)</vt:lpwstr>
  </property>
  <property fmtid="{D5CDD505-2E9C-101B-9397-08002B2CF9AE}" pid="5" name="_AuthorEmail">
    <vt:lpwstr>candy.huang@rexon.com.tw</vt:lpwstr>
  </property>
  <property fmtid="{D5CDD505-2E9C-101B-9397-08002B2CF9AE}" pid="6" name="_AuthorEmailDisplayName">
    <vt:lpwstr>candy.huang[黃玉鈴]</vt:lpwstr>
  </property>
</Properties>
</file>